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4" d="100"/>
          <a:sy n="114" d="100"/>
        </p:scale>
        <p:origin x="43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1484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Hi, I'm Luke. For this part I want to show you what I've been building, not just describe past roles. The work comes from a Udemy course I've published and am still extending. It teaches engineers to take agentic AI from a notebook to production on Azure.
I'll cover three things in about eight minutes:
1. Server-side orchestration: several agents working together, hosted and managed </a:t>
            </a:r>
            <a:r>
              <a:rPr lang="en-US"/>
              <a:t>by Microsoft Foundry.</a:t>
            </a:r>
            <a:r>
              <a:rPr lang="en-US" dirty="0"/>
              <a:t>
2. Client-side orchestration: an agent we own and run as a containerised API, deployed to Azure Container Apps and to Kubernetes.
3. What makes it production-ready, and how I'd pick between these patterns for a client.
All of it is real code: infrastructure-as-code, deployment scripts and the application. I'm happy to go into any detail.
(Side note only, if it comes up: the course content supports the Microsoft Azure AI-103, AI-200 and AI-500 certifications.)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minutes. Unit 15.
EXEC MESSAGE: The platform runs the agents. We write the instructions and the rules.
THE FLOW (right-hand side, top to bottom):
1. Infrastructure as code: one Bicep template deploys the Foundry resource, a project and a gpt-5-mini model deployment.
2. Server-side Foundry agents: agent_deployment.py deploys the Manager, Extractor and Analyst from YAML config.
3. Microsoft Agent Framework connects them with the Magentic pattern: the Manager plans, delegates and synthesises.
(If asked about a "hub": this uses the newer Foundry resource + project model, not the classic hub-based setup.)
What it is:
- Three agents deployed into </a:t>
            </a:r>
            <a:r>
              <a:rPr lang="en-US"/>
              <a:t>an Microsoft Foundry </a:t>
            </a:r>
            <a:r>
              <a:rPr lang="en-US" dirty="0"/>
              <a:t>project: a Manager, an Extractor and an Analyst. Each is defined in a YAML config (name plus system prompt). agent_deployment.py pushes it with project_client.agents.create_version(...) as a PromptAgentDefinition, so prompts are versioned like code.
- agent_execution.py wraps the deployed agents with FoundryAgent and composes them using Microsoft Agent Framework's MagenticBuilder. The Manager plans, delegates to the specialists and synthesises one answer.
- Guardrails: max_round_count=5 and max_stall_count=3, so the workflow can't loop forever or burn tokens.
- workflow.as_agent(...) turns the whole workflow into a single agent. Callers see one agent, and the orchestration stays hidden.
Infrastructure:
- One Bicep template creates the Foundry account (AIServices kind), a project, and a GlobalStandard gpt-5-mini deployment with a 50-unit capacity limit. It outputs the project endpoint.
- Auth is DefaultAzureCredential throughout: no keys in code.
- Teardown script deletes and purges the soft-deleted Cognitive Services account, so nothing keeps billing.
Why server-side: fastest route to value, managed state and threads, built-in tracing and evaluation in Foundry. Trade-off: less control over runtime, networking and cost profile. That's why pattern 2 exists.
If asked: Magentic vs sequential/group-chat orchestration: Magentic uses a planning manager that keeps a task ledger, which suits open-ended requests. For deterministic pipelines I'd use sequential or graph workflows.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minutes. Units 22 &amp; 23.
EXEC MESSAGE: We own the agent runtime. It's one portable container we can host wherever the client's platform strategy points.
THE FLOW (top row, left to right):
1. Infrastructure as code: Bicep deploys the Foundry resource, project and model deployment, plus ACR, Key Vault, App Configuration and the role assignments between them.
2. A FastAPI service does the orchestration client-side: our code owns the agent loop and calls the model.
3. The app is containerised with az acr build and pushed to Azure Container Registry.
4. The same image is deployed to either Azure Container Apps or AKS (the two cards below).
The app (identical in both units):
- FastAPI with the application-factory pattern and a lifespan context manager. On startup it loads settings from Azure App Configuration, which resolves the API key from Key Vault, and creates one AsyncOpenAI client in app.state. On shutdown it closes the client cleanly.
- Zero code changes between ACA and AKS: the app, Dockerfile and Bicep are identical in both units. The only thing the app reads from its environment is AZURE_APP_CONFIG_ENDPOINT; everything else comes from App Configuration at startup (12-factor config).
- The API key is never handled by a person: Bicep calls listKeys() on Foundry and writes it straight into Key Vault. App Configuration stores a Key Vault *reference*, not the value, and the app resolves it at runtime through its identity. Nobody copies or pastes it, and it's never committed or put in an env var.
- Same auth locally and in the cloud: the local script gives my user the same roles the managed identity gets, so DefaultAzureCredential behaves the same on a laptop and in Azure.
- If the App Config endpoint or OpenAI settings are missing, the app still boots but reports UNREADY. The readiness probe fails, so no traffic reaches a broken instance. (Honest gap: a missing LLM-MAX-TOKENS key currently crashes startup instead; I'd give it a default.)
- /health/sabotage and /health/repair are teaching endpoints: they flip a flag so students can watch the orchestrator self-heal. They would never be exposed in production.
- Dockerfile: python:3.11-slim, dependencies copied first for layer caching, uvicorn on 8080. Built remotely with az acr build.
Container Apps (Unit 22):
- min 1 / max 10 replicas, CPU scale rule at 70%, external ingress.
- System-assigned managed identity with Key Vault Secrets User and App Configuration Data Reader roles, i.e. least privilege.
- Probes applied via YAML: liveness restarts the container, readiness pulls it out of rotation.
- A stress-test script fires concurrent requests to demonstrate scale-out.
AKS (Unit 23):
- Cluster with the ACR attached, cluster autoscaler 1–3 nodes, OIDC issuer and Workload Identity enabled.
- A user-assigned managed identity federated to a Kubernetes ServiceAccount, so pods get Entra tokens with no secrets in the cluster.
- Manifest: Deployment with probes and resource requests/limits, LoadBalancer Service (80→8080), HorizontalPodAutoscaler 1–5 pods at 50% CPU.
Why client-side: full control over code, networking, scaling, observability and cost, and it's portable. Trade-off: we own more of the operational surface.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then hand over to Q&amp;A.
EXEC MESSAGE: Getting a demo working is the easy part. Clients pay for systems that are secure, reliable and affordable in production, and that's what I design for from day one.
- Secure: DefaultAzureCredential everywhere. Container Apps uses a system-assigned identity; AKS uses Workload Identity (OIDC federation to a user-assigned identity). Scoped roles: Key Vault Secrets User, App Configuration Data Reader. App Config holds Key Vault references rather than secrets.
- Resilient: liveness vs readiness is deliberate. Liveness means "restart me", readiness means "stop sending me traffic" (e.g. model endpoint not configured). I tested it by breaking it on purpose with the sabotage endpoint.
- Scalable: ACA scale rules; on AKS the HPA scales pods and the cluster autoscaler scales nodes.
- Infrastructure as code: no portal clicking. Bicep templates provision the Foundry account, project and model deployment, plus ACR, Key Vault, App Configuration and their role assignments. Container Apps and AKS are created from version-controlled Azure CLI scripts. Every environment is repeatable and reviewable, and each unit ends with a deletion/purge script so nothing is left running. Natural next step: move the ACA/AKS resources into Bicep too, and run everything from a CI/CD pipeline.
- Cost (if asked): Magentic round/stall limits cap token spend; Basic ACR, free-tier App Config and small node sizes for dev.
Choosing a pattern: start with the business need and the client's existing platform. Foundry for speed and managed agents. ACA as the default for custom APIs. AKS when there's an existing Kubernetes estate or strict networking/control needs. The patterns combine well: a FastAPI service on ACA can call a Foundry-hosted multi-agent workflow.
Full lifecycle: every unit ships numbered scripts 00-07 (setup, provision, run locally, test locally, build image, deploy, test in cloud, tear down), so the whole delivery loop is repeatable. Images build remotely with az acr build, so no local Docker is needed.
What I'd harden next (raise this before they do, since this is a code-review interview):
- Swap the OpenAI API key for Entra ID token auth (Cognitive Services OpenAI User role), so there's no key at all.
- Disable the ACR admin user; pull with the AcrPull role via managed identity.
- Add auth to /run (API Management or Easy Auth), plus TLS/ingress on AKS.
- Immutable image tags instead of :latest, non-root multi-stage Dockerfile.
- A readiness check that actually calls the model, and no raw exception details returned to callers.
Next in the course (on the slide): I plan to add private networking to secure the deployed application (VNet integration and private endpoints, so the app, model, Key Vault, App Config and registry aren't reachable from the public internet), and a frontend that sits in front of the agent API. That takes it from a secure API to a complete, end-to-end application.
Next steps I'd add for a real client: CI/CD (GitHub Actions/Azure DevOps with OIDC), private networking/VNet integration, OpenTelemetry tracing to App Insights, agent evaluation in the pipeline, and API Management in front for auth and rate limiting.
Close: "Happy to go deeper on any of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726"/>
        </a:solidFill>
        <a:effectLst/>
      </p:bgPr>
    </p:bg>
    <p:spTree>
      <p:nvGrpSpPr>
        <p:cNvPr id="1" name=""/>
        <p:cNvGrpSpPr/>
        <p:nvPr/>
      </p:nvGrpSpPr>
      <p:grpSpPr>
        <a:xfrm>
          <a:off x="0" y="0"/>
          <a:ext cx="0" cy="0"/>
          <a:chOff x="0" y="0"/>
          <a:chExt cx="0" cy="0"/>
        </a:xfrm>
      </p:grpSpPr>
      <p:sp>
        <p:nvSpPr>
          <p:cNvPr id="2" name="Shape 0"/>
          <p:cNvSpPr/>
          <p:nvPr/>
        </p:nvSpPr>
        <p:spPr>
          <a:xfrm>
            <a:off x="9738360" y="1874520"/>
            <a:ext cx="1325880" cy="1051560"/>
          </a:xfrm>
          <a:prstGeom prst="line">
            <a:avLst/>
          </a:prstGeom>
          <a:noFill/>
          <a:ln w="15875">
            <a:solidFill>
              <a:srgbClr val="3A4B66"/>
            </a:solidFill>
            <a:prstDash val="solid"/>
          </a:ln>
        </p:spPr>
      </p:sp>
      <p:sp>
        <p:nvSpPr>
          <p:cNvPr id="3" name="Shape 1"/>
          <p:cNvSpPr/>
          <p:nvPr/>
        </p:nvSpPr>
        <p:spPr>
          <a:xfrm flipH="1">
            <a:off x="8755380" y="1874520"/>
            <a:ext cx="982980" cy="1577340"/>
          </a:xfrm>
          <a:prstGeom prst="line">
            <a:avLst/>
          </a:prstGeom>
          <a:noFill/>
          <a:ln w="15875">
            <a:solidFill>
              <a:srgbClr val="3A4B66"/>
            </a:solidFill>
            <a:prstDash val="solid"/>
          </a:ln>
        </p:spPr>
      </p:sp>
      <p:sp>
        <p:nvSpPr>
          <p:cNvPr id="4" name="Shape 2"/>
          <p:cNvSpPr/>
          <p:nvPr/>
        </p:nvSpPr>
        <p:spPr>
          <a:xfrm>
            <a:off x="8755380" y="3451860"/>
            <a:ext cx="1554480" cy="1097280"/>
          </a:xfrm>
          <a:prstGeom prst="line">
            <a:avLst/>
          </a:prstGeom>
          <a:noFill/>
          <a:ln w="15875">
            <a:solidFill>
              <a:srgbClr val="3A4B66"/>
            </a:solidFill>
            <a:prstDash val="solid"/>
          </a:ln>
        </p:spPr>
      </p:sp>
      <p:sp>
        <p:nvSpPr>
          <p:cNvPr id="5" name="Shape 3"/>
          <p:cNvSpPr/>
          <p:nvPr/>
        </p:nvSpPr>
        <p:spPr>
          <a:xfrm flipH="1">
            <a:off x="10309860" y="2926080"/>
            <a:ext cx="754380" cy="1623060"/>
          </a:xfrm>
          <a:prstGeom prst="line">
            <a:avLst/>
          </a:prstGeom>
          <a:noFill/>
          <a:ln w="15875">
            <a:solidFill>
              <a:srgbClr val="3A4B66"/>
            </a:solidFill>
            <a:prstDash val="solid"/>
          </a:ln>
        </p:spPr>
      </p:sp>
      <p:sp>
        <p:nvSpPr>
          <p:cNvPr id="6" name="Shape 4"/>
          <p:cNvSpPr/>
          <p:nvPr/>
        </p:nvSpPr>
        <p:spPr>
          <a:xfrm>
            <a:off x="10309860" y="4549140"/>
            <a:ext cx="960120" cy="868680"/>
          </a:xfrm>
          <a:prstGeom prst="line">
            <a:avLst/>
          </a:prstGeom>
          <a:noFill/>
          <a:ln w="15875">
            <a:solidFill>
              <a:srgbClr val="3A4B66"/>
            </a:solidFill>
            <a:prstDash val="solid"/>
          </a:ln>
        </p:spPr>
      </p:sp>
      <p:sp>
        <p:nvSpPr>
          <p:cNvPr id="7" name="Shape 5"/>
          <p:cNvSpPr/>
          <p:nvPr/>
        </p:nvSpPr>
        <p:spPr>
          <a:xfrm flipH="1">
            <a:off x="8961120" y="4549140"/>
            <a:ext cx="1348740" cy="937260"/>
          </a:xfrm>
          <a:prstGeom prst="line">
            <a:avLst/>
          </a:prstGeom>
          <a:noFill/>
          <a:ln w="15875">
            <a:solidFill>
              <a:srgbClr val="3A4B66"/>
            </a:solidFill>
            <a:prstDash val="solid"/>
          </a:ln>
        </p:spPr>
      </p:sp>
      <p:sp>
        <p:nvSpPr>
          <p:cNvPr id="8" name="Shape 6"/>
          <p:cNvSpPr/>
          <p:nvPr/>
        </p:nvSpPr>
        <p:spPr>
          <a:xfrm>
            <a:off x="9326880" y="1463040"/>
            <a:ext cx="822960" cy="822960"/>
          </a:xfrm>
          <a:prstGeom prst="ellipse">
            <a:avLst/>
          </a:prstGeom>
          <a:solidFill>
            <a:srgbClr val="12A4A0"/>
          </a:solidFill>
          <a:ln w="12700">
            <a:solidFill>
              <a:srgbClr val="12A4A0"/>
            </a:solidFill>
            <a:prstDash val="solid"/>
          </a:ln>
        </p:spPr>
      </p:sp>
      <p:sp>
        <p:nvSpPr>
          <p:cNvPr id="9" name="Shape 7"/>
          <p:cNvSpPr/>
          <p:nvPr/>
        </p:nvSpPr>
        <p:spPr>
          <a:xfrm>
            <a:off x="10789920" y="2651760"/>
            <a:ext cx="548640" cy="548640"/>
          </a:xfrm>
          <a:prstGeom prst="ellipse">
            <a:avLst/>
          </a:prstGeom>
          <a:solidFill>
            <a:srgbClr val="F2A33A"/>
          </a:solidFill>
          <a:ln w="12700">
            <a:solidFill>
              <a:srgbClr val="F2A33A"/>
            </a:solidFill>
            <a:prstDash val="solid"/>
          </a:ln>
        </p:spPr>
      </p:sp>
      <p:sp>
        <p:nvSpPr>
          <p:cNvPr id="10" name="Shape 8"/>
          <p:cNvSpPr/>
          <p:nvPr/>
        </p:nvSpPr>
        <p:spPr>
          <a:xfrm>
            <a:off x="8503920" y="3200400"/>
            <a:ext cx="502920" cy="502920"/>
          </a:xfrm>
          <a:prstGeom prst="ellipse">
            <a:avLst/>
          </a:prstGeom>
          <a:solidFill>
            <a:srgbClr val="12A4A0"/>
          </a:solidFill>
          <a:ln w="12700">
            <a:solidFill>
              <a:srgbClr val="12A4A0"/>
            </a:solidFill>
            <a:prstDash val="solid"/>
          </a:ln>
        </p:spPr>
      </p:sp>
      <p:sp>
        <p:nvSpPr>
          <p:cNvPr id="11" name="Shape 9"/>
          <p:cNvSpPr/>
          <p:nvPr/>
        </p:nvSpPr>
        <p:spPr>
          <a:xfrm>
            <a:off x="9966960" y="4206240"/>
            <a:ext cx="685800" cy="685800"/>
          </a:xfrm>
          <a:prstGeom prst="ellipse">
            <a:avLst/>
          </a:prstGeom>
          <a:solidFill>
            <a:srgbClr val="12A4A0"/>
          </a:solidFill>
          <a:ln w="12700">
            <a:solidFill>
              <a:srgbClr val="12A4A0"/>
            </a:solidFill>
            <a:prstDash val="solid"/>
          </a:ln>
        </p:spPr>
      </p:sp>
      <p:sp>
        <p:nvSpPr>
          <p:cNvPr id="12" name="Shape 10"/>
          <p:cNvSpPr/>
          <p:nvPr/>
        </p:nvSpPr>
        <p:spPr>
          <a:xfrm>
            <a:off x="11064240" y="5212080"/>
            <a:ext cx="411480" cy="411480"/>
          </a:xfrm>
          <a:prstGeom prst="ellipse">
            <a:avLst/>
          </a:prstGeom>
          <a:solidFill>
            <a:srgbClr val="F2A33A"/>
          </a:solidFill>
          <a:ln w="12700">
            <a:solidFill>
              <a:srgbClr val="F2A33A"/>
            </a:solidFill>
            <a:prstDash val="solid"/>
          </a:ln>
        </p:spPr>
      </p:sp>
      <p:sp>
        <p:nvSpPr>
          <p:cNvPr id="13" name="Shape 11"/>
          <p:cNvSpPr/>
          <p:nvPr/>
        </p:nvSpPr>
        <p:spPr>
          <a:xfrm>
            <a:off x="8778240" y="5303520"/>
            <a:ext cx="365760" cy="365760"/>
          </a:xfrm>
          <a:prstGeom prst="ellipse">
            <a:avLst/>
          </a:prstGeom>
          <a:solidFill>
            <a:srgbClr val="12A4A0"/>
          </a:solidFill>
          <a:ln w="12700">
            <a:solidFill>
              <a:srgbClr val="12A4A0"/>
            </a:solidFill>
            <a:prstDash val="solid"/>
          </a:ln>
        </p:spPr>
      </p:sp>
      <p:sp>
        <p:nvSpPr>
          <p:cNvPr id="14" name="Shape 12"/>
          <p:cNvSpPr/>
          <p:nvPr/>
        </p:nvSpPr>
        <p:spPr>
          <a:xfrm>
            <a:off x="9326880" y="1463040"/>
            <a:ext cx="822960" cy="822960"/>
          </a:xfrm>
          <a:prstGeom prst="ellipse">
            <a:avLst/>
          </a:prstGeom>
          <a:solidFill>
            <a:srgbClr val="12A4A0"/>
          </a:solidFill>
          <a:ln w="12700">
            <a:solidFill>
              <a:srgbClr val="12A4A0"/>
            </a:solidFill>
            <a:prstDash val="solid"/>
          </a:ln>
        </p:spPr>
      </p:sp>
      <p:pic>
        <p:nvPicPr>
          <p:cNvPr id="15" name="Image 0" descr="preencoded.png"/>
          <p:cNvPicPr>
            <a:picLocks noChangeAspect="1"/>
          </p:cNvPicPr>
          <p:nvPr/>
        </p:nvPicPr>
        <p:blipFill>
          <a:blip r:embed="rId3"/>
          <a:stretch>
            <a:fillRect/>
          </a:stretch>
        </p:blipFill>
        <p:spPr>
          <a:xfrm>
            <a:off x="9532620" y="1668780"/>
            <a:ext cx="411480" cy="411480"/>
          </a:xfrm>
          <a:prstGeom prst="rect">
            <a:avLst/>
          </a:prstGeom>
        </p:spPr>
      </p:pic>
      <p:sp>
        <p:nvSpPr>
          <p:cNvPr id="16" name="Shape 13"/>
          <p:cNvSpPr/>
          <p:nvPr/>
        </p:nvSpPr>
        <p:spPr>
          <a:xfrm>
            <a:off x="9966960" y="4206240"/>
            <a:ext cx="685800" cy="685800"/>
          </a:xfrm>
          <a:prstGeom prst="ellipse">
            <a:avLst/>
          </a:prstGeom>
          <a:solidFill>
            <a:srgbClr val="12A4A0"/>
          </a:solidFill>
          <a:ln w="12700">
            <a:solidFill>
              <a:srgbClr val="12A4A0"/>
            </a:solidFill>
            <a:prstDash val="solid"/>
          </a:ln>
        </p:spPr>
      </p:sp>
      <p:pic>
        <p:nvPicPr>
          <p:cNvPr id="17" name="Image 1" descr="preencoded.png"/>
          <p:cNvPicPr>
            <a:picLocks noChangeAspect="1"/>
          </p:cNvPicPr>
          <p:nvPr/>
        </p:nvPicPr>
        <p:blipFill>
          <a:blip r:embed="rId4"/>
          <a:stretch>
            <a:fillRect/>
          </a:stretch>
        </p:blipFill>
        <p:spPr>
          <a:xfrm>
            <a:off x="10138410" y="4377690"/>
            <a:ext cx="342900" cy="342900"/>
          </a:xfrm>
          <a:prstGeom prst="rect">
            <a:avLst/>
          </a:prstGeom>
        </p:spPr>
      </p:pic>
      <p:sp>
        <p:nvSpPr>
          <p:cNvPr id="18" name="Text 14"/>
          <p:cNvSpPr txBox="1"/>
          <p:nvPr/>
        </p:nvSpPr>
        <p:spPr>
          <a:xfrm>
            <a:off x="731520" y="1554480"/>
            <a:ext cx="7315200" cy="365760"/>
          </a:xfrm>
          <a:prstGeom prst="rect">
            <a:avLst/>
          </a:prstGeom>
          <a:noFill/>
          <a:ln/>
        </p:spPr>
        <p:txBody>
          <a:bodyPr wrap="square" lIns="0" tIns="0" rIns="0" bIns="0" rtlCol="0" anchor="ctr"/>
          <a:lstStyle/>
          <a:p>
            <a:pPr marL="0" indent="0">
              <a:buNone/>
            </a:pPr>
            <a:r>
              <a:rPr lang="en-US" sz="1200" b="1" kern="0" spc="200" dirty="0">
                <a:solidFill>
                  <a:srgbClr val="12A4A0"/>
                </a:solidFill>
                <a:latin typeface="Arial" pitchFamily="34" charset="0"/>
                <a:ea typeface="Arial" pitchFamily="34" charset="-122"/>
                <a:cs typeface="Arial" pitchFamily="34" charset="-120"/>
              </a:rPr>
              <a:t>MACHINE LEARNING ENGINEERING  ·  MANTEL TECHNICAL INTERVIEW</a:t>
            </a:r>
            <a:endParaRPr lang="en-US" sz="1200" dirty="0"/>
          </a:p>
        </p:txBody>
      </p:sp>
      <p:sp>
        <p:nvSpPr>
          <p:cNvPr id="19" name="Text 15"/>
          <p:cNvSpPr txBox="1"/>
          <p:nvPr/>
        </p:nvSpPr>
        <p:spPr>
          <a:xfrm>
            <a:off x="731520" y="2011680"/>
            <a:ext cx="7498080" cy="1737360"/>
          </a:xfrm>
          <a:prstGeom prst="rect">
            <a:avLst/>
          </a:prstGeom>
          <a:noFill/>
          <a:ln/>
        </p:spPr>
        <p:txBody>
          <a:bodyPr wrap="square" lIns="0" tIns="0" rIns="0" bIns="0" rtlCol="0" anchor="t"/>
          <a:lstStyle/>
          <a:p>
            <a:pPr marL="0" indent="0">
              <a:buNone/>
            </a:pPr>
            <a:r>
              <a:rPr lang="en-US" sz="4800" b="1" dirty="0">
                <a:solidFill>
                  <a:srgbClr val="FFFFFF"/>
                </a:solidFill>
                <a:latin typeface="Arial" pitchFamily="34" charset="0"/>
                <a:ea typeface="Arial" pitchFamily="34" charset="-122"/>
                <a:cs typeface="Arial" pitchFamily="34" charset="-120"/>
              </a:rPr>
              <a:t>From Agent to Production</a:t>
            </a:r>
            <a:endParaRPr lang="en-US" sz="4800" dirty="0"/>
          </a:p>
        </p:txBody>
      </p:sp>
      <p:sp>
        <p:nvSpPr>
          <p:cNvPr id="20" name="Text 16"/>
          <p:cNvSpPr txBox="1"/>
          <p:nvPr/>
        </p:nvSpPr>
        <p:spPr>
          <a:xfrm>
            <a:off x="731520" y="3794760"/>
            <a:ext cx="7498080" cy="548640"/>
          </a:xfrm>
          <a:prstGeom prst="rect">
            <a:avLst/>
          </a:prstGeom>
          <a:noFill/>
          <a:ln/>
        </p:spPr>
        <p:txBody>
          <a:bodyPr wrap="square" lIns="0" tIns="0" rIns="0" bIns="0" rtlCol="0" anchor="ctr"/>
          <a:lstStyle/>
          <a:p>
            <a:pPr marL="0" indent="0">
              <a:buNone/>
            </a:pPr>
            <a:r>
              <a:rPr lang="en-US" sz="2200" dirty="0">
                <a:solidFill>
                  <a:srgbClr val="CBD5E1"/>
                </a:solidFill>
                <a:latin typeface="Calibri" pitchFamily="34" charset="0"/>
                <a:ea typeface="Calibri" pitchFamily="34" charset="-122"/>
                <a:cs typeface="Calibri" pitchFamily="34" charset="-120"/>
              </a:rPr>
              <a:t>Designing, deploying and operating agentic AI on Azure</a:t>
            </a:r>
            <a:endParaRPr lang="en-US" sz="2200" dirty="0"/>
          </a:p>
        </p:txBody>
      </p:sp>
      <p:sp>
        <p:nvSpPr>
          <p:cNvPr id="21" name="Text 17"/>
          <p:cNvSpPr txBox="1"/>
          <p:nvPr/>
        </p:nvSpPr>
        <p:spPr>
          <a:xfrm>
            <a:off x="731520" y="5029200"/>
            <a:ext cx="7315200" cy="7315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Luke Ginn</a:t>
            </a:r>
            <a:endParaRPr lang="en-US" sz="1600" dirty="0"/>
          </a:p>
          <a:p>
            <a:pPr marL="0" indent="0">
              <a:buNone/>
            </a:pPr>
            <a:r>
              <a:rPr lang="en-US" sz="1600" dirty="0">
                <a:solidFill>
                  <a:srgbClr val="94A3B8"/>
                </a:solidFill>
                <a:latin typeface="Calibri" pitchFamily="34" charset="0"/>
                <a:ea typeface="Calibri" pitchFamily="34" charset="-122"/>
                <a:cs typeface="Calibri" pitchFamily="34" charset="-120"/>
              </a:rPr>
              <a:t>Drawn from my published Udemy course on agentic AI in Azure</a:t>
            </a:r>
            <a:endParaRPr lang="en-US" sz="1600" dirty="0"/>
          </a:p>
        </p:txBody>
      </p:sp>
      <p:sp>
        <p:nvSpPr>
          <p:cNvPr id="22" name="Text 18"/>
          <p:cNvSpPr txBox="1"/>
          <p:nvPr/>
        </p:nvSpPr>
        <p:spPr>
          <a:xfrm>
            <a:off x="731520" y="5806440"/>
            <a:ext cx="7315200" cy="32004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Course content supports the Microsoft Azure AI-103, AI-200 and AI-500 certifications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972800" cy="320040"/>
          </a:xfrm>
          <a:prstGeom prst="rect">
            <a:avLst/>
          </a:prstGeom>
          <a:noFill/>
          <a:ln/>
        </p:spPr>
        <p:txBody>
          <a:bodyPr wrap="square" lIns="0" tIns="0" rIns="0" bIns="0" rtlCol="0" anchor="ctr"/>
          <a:lstStyle/>
          <a:p>
            <a:pPr marL="0" indent="0">
              <a:buNone/>
            </a:pPr>
            <a:r>
              <a:rPr lang="en-US" sz="1200" b="1" kern="0" spc="300" dirty="0">
                <a:solidFill>
                  <a:srgbClr val="12A4A0"/>
                </a:solidFill>
                <a:latin typeface="Arial" pitchFamily="34" charset="0"/>
                <a:ea typeface="Arial" pitchFamily="34" charset="-122"/>
                <a:cs typeface="Arial" pitchFamily="34" charset="-120"/>
              </a:rPr>
              <a:t>PATTERN 1  ·  SERVER-SIDE ORCHESTRATION</a:t>
            </a:r>
            <a:endParaRPr lang="en-US" sz="1200" dirty="0"/>
          </a:p>
        </p:txBody>
      </p:sp>
      <p:sp>
        <p:nvSpPr>
          <p:cNvPr id="3" name="Text 1"/>
          <p:cNvSpPr txBox="1"/>
          <p:nvPr/>
        </p:nvSpPr>
        <p:spPr>
          <a:xfrm>
            <a:off x="548640" y="685800"/>
            <a:ext cx="11064240" cy="685800"/>
          </a:xfrm>
          <a:prstGeom prst="rect">
            <a:avLst/>
          </a:prstGeom>
          <a:noFill/>
          <a:ln/>
        </p:spPr>
        <p:txBody>
          <a:bodyPr wrap="square" lIns="0" tIns="0" rIns="0" bIns="0" rtlCol="0" anchor="ctr"/>
          <a:lstStyle/>
          <a:p>
            <a:pPr marL="0" indent="0">
              <a:buNone/>
            </a:pPr>
            <a:r>
              <a:rPr lang="en-US" sz="3200" b="1" dirty="0">
                <a:solidFill>
                  <a:srgbClr val="0E1726"/>
                </a:solidFill>
                <a:latin typeface="Arial" pitchFamily="34" charset="0"/>
                <a:ea typeface="Arial" pitchFamily="34" charset="-122"/>
                <a:cs typeface="Arial" pitchFamily="34" charset="-120"/>
              </a:rPr>
              <a:t>A team of AI agents, managed by the platform</a:t>
            </a:r>
            <a:endParaRPr lang="en-US" sz="3200" dirty="0"/>
          </a:p>
        </p:txBody>
      </p:sp>
      <p:sp>
        <p:nvSpPr>
          <p:cNvPr id="4" name="Shape 2"/>
          <p:cNvSpPr/>
          <p:nvPr/>
        </p:nvSpPr>
        <p:spPr>
          <a:xfrm>
            <a:off x="548640" y="1645920"/>
            <a:ext cx="6675120" cy="4663440"/>
          </a:xfrm>
          <a:prstGeom prst="roundRect">
            <a:avLst>
              <a:gd name="adj" fmla="val 1961"/>
            </a:avLst>
          </a:prstGeom>
          <a:solidFill>
            <a:srgbClr val="F3F6F9"/>
          </a:solidFill>
          <a:ln w="12700">
            <a:solidFill>
              <a:srgbClr val="F3F6F9"/>
            </a:solidFill>
            <a:prstDash val="solid"/>
          </a:ln>
        </p:spPr>
      </p:sp>
      <p:sp>
        <p:nvSpPr>
          <p:cNvPr id="5" name="Text 3"/>
          <p:cNvSpPr txBox="1"/>
          <p:nvPr/>
        </p:nvSpPr>
        <p:spPr>
          <a:xfrm>
            <a:off x="777240" y="1783080"/>
            <a:ext cx="6309360" cy="320040"/>
          </a:xfrm>
          <a:prstGeom prst="rect">
            <a:avLst/>
          </a:prstGeom>
          <a:noFill/>
          <a:ln/>
        </p:spPr>
        <p:txBody>
          <a:bodyPr wrap="square" lIns="0" tIns="0" rIns="0" bIns="0" rtlCol="0" anchor="ctr"/>
          <a:lstStyle/>
          <a:p>
            <a:pPr marL="0" indent="0">
              <a:buNone/>
            </a:pPr>
            <a:r>
              <a:rPr lang="en-US" sz="1200" b="1" dirty="0">
                <a:solidFill>
                  <a:srgbClr val="64748B"/>
                </a:solidFill>
                <a:latin typeface="Calibri" pitchFamily="34" charset="0"/>
                <a:ea typeface="Calibri" pitchFamily="34" charset="-122"/>
                <a:cs typeface="Calibri" pitchFamily="34" charset="-120"/>
              </a:rPr>
              <a:t>Microsoft Foundry  ·  Microsoft Agent Framework (Magentic)</a:t>
            </a:r>
            <a:endParaRPr lang="en-US" sz="1200" dirty="0"/>
          </a:p>
        </p:txBody>
      </p:sp>
      <p:sp>
        <p:nvSpPr>
          <p:cNvPr id="6" name="Shape 4"/>
          <p:cNvSpPr/>
          <p:nvPr/>
        </p:nvSpPr>
        <p:spPr>
          <a:xfrm>
            <a:off x="868680" y="2743200"/>
            <a:ext cx="1371600" cy="685800"/>
          </a:xfrm>
          <a:prstGeom prst="roundRect">
            <a:avLst>
              <a:gd name="adj" fmla="val 10667"/>
            </a:avLst>
          </a:prstGeom>
          <a:solidFill>
            <a:srgbClr val="0E1726"/>
          </a:solidFill>
          <a:ln w="12700">
            <a:solidFill>
              <a:srgbClr val="0E1726"/>
            </a:solidFill>
            <a:prstDash val="solid"/>
          </a:ln>
        </p:spPr>
      </p:sp>
      <p:sp>
        <p:nvSpPr>
          <p:cNvPr id="7" name="Text 5"/>
          <p:cNvSpPr txBox="1"/>
          <p:nvPr/>
        </p:nvSpPr>
        <p:spPr>
          <a:xfrm>
            <a:off x="868680" y="2743200"/>
            <a:ext cx="1371600" cy="685800"/>
          </a:xfrm>
          <a:prstGeom prst="rect">
            <a:avLst/>
          </a:prstGeom>
          <a:noFill/>
          <a:ln/>
        </p:spPr>
        <p:txBody>
          <a:bodyPr wrap="square" lIns="50800" tIns="50800" rIns="50800" bIns="5080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User prompt</a:t>
            </a:r>
            <a:endParaRPr lang="en-US" sz="1300" dirty="0"/>
          </a:p>
        </p:txBody>
      </p:sp>
      <p:sp>
        <p:nvSpPr>
          <p:cNvPr id="8" name="Shape 6"/>
          <p:cNvSpPr/>
          <p:nvPr/>
        </p:nvSpPr>
        <p:spPr>
          <a:xfrm>
            <a:off x="2240280" y="3086100"/>
            <a:ext cx="457200" cy="914"/>
          </a:xfrm>
          <a:prstGeom prst="line">
            <a:avLst/>
          </a:prstGeom>
          <a:noFill/>
          <a:ln w="19050">
            <a:solidFill>
              <a:srgbClr val="64748B"/>
            </a:solidFill>
            <a:prstDash val="solid"/>
            <a:tailEnd type="triangle"/>
          </a:ln>
        </p:spPr>
      </p:sp>
      <p:sp>
        <p:nvSpPr>
          <p:cNvPr id="9" name="Shape 7"/>
          <p:cNvSpPr/>
          <p:nvPr/>
        </p:nvSpPr>
        <p:spPr>
          <a:xfrm>
            <a:off x="2697480" y="2651760"/>
            <a:ext cx="2011680" cy="868680"/>
          </a:xfrm>
          <a:prstGeom prst="roundRect">
            <a:avLst>
              <a:gd name="adj" fmla="val 8421"/>
            </a:avLst>
          </a:prstGeom>
          <a:solidFill>
            <a:srgbClr val="12A4A0"/>
          </a:solidFill>
          <a:ln w="12700">
            <a:solidFill>
              <a:srgbClr val="12A4A0"/>
            </a:solidFill>
            <a:prstDash val="solid"/>
          </a:ln>
          <a:effectLst>
            <a:outerShdw blurRad="101600" dist="25400" dir="5400000" algn="bl" rotWithShape="0">
              <a:srgbClr val="000000">
                <a:alpha val="12000"/>
              </a:srgbClr>
            </a:outerShdw>
          </a:effectLst>
        </p:spPr>
      </p:sp>
      <p:sp>
        <p:nvSpPr>
          <p:cNvPr id="10" name="Text 8"/>
          <p:cNvSpPr txBox="1"/>
          <p:nvPr/>
        </p:nvSpPr>
        <p:spPr>
          <a:xfrm>
            <a:off x="2697480" y="2651760"/>
            <a:ext cx="2011680" cy="868680"/>
          </a:xfrm>
          <a:prstGeom prst="rect">
            <a:avLst/>
          </a:prstGeom>
          <a:noFill/>
          <a:ln/>
        </p:spPr>
        <p:txBody>
          <a:bodyPr wrap="square" lIns="50800" tIns="50800" rIns="50800" bIns="5080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Manager agent</a:t>
            </a:r>
            <a:endParaRPr lang="en-US" sz="1300" dirty="0"/>
          </a:p>
          <a:p>
            <a:pPr marL="0" indent="0" algn="ctr">
              <a:buNone/>
            </a:pPr>
            <a:r>
              <a:rPr lang="en-US" sz="1300" dirty="0">
                <a:solidFill>
                  <a:srgbClr val="FFFFFF"/>
                </a:solidFill>
                <a:latin typeface="Calibri" pitchFamily="34" charset="0"/>
                <a:ea typeface="Calibri" pitchFamily="34" charset="-122"/>
                <a:cs typeface="Calibri" pitchFamily="34" charset="-120"/>
              </a:rPr>
              <a:t>plans · routes · synthesises</a:t>
            </a:r>
            <a:endParaRPr lang="en-US" sz="1300" dirty="0"/>
          </a:p>
        </p:txBody>
      </p:sp>
      <p:sp>
        <p:nvSpPr>
          <p:cNvPr id="11" name="Shape 9"/>
          <p:cNvSpPr/>
          <p:nvPr/>
        </p:nvSpPr>
        <p:spPr>
          <a:xfrm>
            <a:off x="5074920" y="2240280"/>
            <a:ext cx="1920240" cy="731520"/>
          </a:xfrm>
          <a:prstGeom prst="roundRect">
            <a:avLst>
              <a:gd name="adj" fmla="val 10000"/>
            </a:avLst>
          </a:prstGeom>
          <a:solidFill>
            <a:srgbClr val="FFFFFF"/>
          </a:solidFill>
          <a:ln w="12700">
            <a:solidFill>
              <a:srgbClr val="12A4A0"/>
            </a:solidFill>
            <a:prstDash val="solid"/>
          </a:ln>
          <a:effectLst>
            <a:outerShdw blurRad="101600" dist="25400" dir="5400000" algn="bl" rotWithShape="0">
              <a:srgbClr val="000000">
                <a:alpha val="12000"/>
              </a:srgbClr>
            </a:outerShdw>
          </a:effectLst>
        </p:spPr>
      </p:sp>
      <p:sp>
        <p:nvSpPr>
          <p:cNvPr id="12" name="Text 10"/>
          <p:cNvSpPr txBox="1"/>
          <p:nvPr/>
        </p:nvSpPr>
        <p:spPr>
          <a:xfrm>
            <a:off x="5074920" y="2240280"/>
            <a:ext cx="1920240" cy="731520"/>
          </a:xfrm>
          <a:prstGeom prst="rect">
            <a:avLst/>
          </a:prstGeom>
          <a:noFill/>
          <a:ln/>
        </p:spPr>
        <p:txBody>
          <a:bodyPr wrap="square" lIns="50800" tIns="50800" rIns="50800" bIns="50800" rtlCol="0" anchor="ctr"/>
          <a:lstStyle/>
          <a:p>
            <a:pPr marL="0" indent="0" algn="ctr">
              <a:buNone/>
            </a:pPr>
            <a:r>
              <a:rPr lang="en-US" sz="1200" dirty="0">
                <a:solidFill>
                  <a:srgbClr val="1F2937"/>
                </a:solidFill>
                <a:latin typeface="Calibri" pitchFamily="34" charset="0"/>
                <a:ea typeface="Calibri" pitchFamily="34" charset="-122"/>
                <a:cs typeface="Calibri" pitchFamily="34" charset="-120"/>
              </a:rPr>
              <a:t>Extractor agent</a:t>
            </a:r>
            <a:endParaRPr lang="en-US" sz="1200" dirty="0"/>
          </a:p>
          <a:p>
            <a:pPr marL="0" indent="0" algn="ctr">
              <a:buNone/>
            </a:pPr>
            <a:r>
              <a:rPr lang="en-US" sz="1200" dirty="0">
                <a:solidFill>
                  <a:srgbClr val="1F2937"/>
                </a:solidFill>
                <a:latin typeface="Calibri" pitchFamily="34" charset="0"/>
                <a:ea typeface="Calibri" pitchFamily="34" charset="-122"/>
                <a:cs typeface="Calibri" pitchFamily="34" charset="-120"/>
              </a:rPr>
              <a:t>facts, metrics, timelines</a:t>
            </a:r>
            <a:endParaRPr lang="en-US" sz="1200" dirty="0"/>
          </a:p>
        </p:txBody>
      </p:sp>
      <p:sp>
        <p:nvSpPr>
          <p:cNvPr id="13" name="Shape 11"/>
          <p:cNvSpPr/>
          <p:nvPr/>
        </p:nvSpPr>
        <p:spPr>
          <a:xfrm>
            <a:off x="5074920" y="3200400"/>
            <a:ext cx="1920240" cy="731520"/>
          </a:xfrm>
          <a:prstGeom prst="roundRect">
            <a:avLst>
              <a:gd name="adj" fmla="val 10000"/>
            </a:avLst>
          </a:prstGeom>
          <a:solidFill>
            <a:srgbClr val="FFFFFF"/>
          </a:solidFill>
          <a:ln w="12700">
            <a:solidFill>
              <a:srgbClr val="12A4A0"/>
            </a:solidFill>
            <a:prstDash val="solid"/>
          </a:ln>
          <a:effectLst>
            <a:outerShdw blurRad="101600" dist="25400" dir="5400000" algn="bl" rotWithShape="0">
              <a:srgbClr val="000000">
                <a:alpha val="12000"/>
              </a:srgbClr>
            </a:outerShdw>
          </a:effectLst>
        </p:spPr>
      </p:sp>
      <p:sp>
        <p:nvSpPr>
          <p:cNvPr id="14" name="Text 12"/>
          <p:cNvSpPr txBox="1"/>
          <p:nvPr/>
        </p:nvSpPr>
        <p:spPr>
          <a:xfrm>
            <a:off x="5074920" y="3200400"/>
            <a:ext cx="1920240" cy="731520"/>
          </a:xfrm>
          <a:prstGeom prst="rect">
            <a:avLst/>
          </a:prstGeom>
          <a:noFill/>
          <a:ln/>
        </p:spPr>
        <p:txBody>
          <a:bodyPr wrap="square" lIns="50800" tIns="50800" rIns="50800" bIns="50800" rtlCol="0" anchor="ctr"/>
          <a:lstStyle/>
          <a:p>
            <a:pPr marL="0" indent="0" algn="ctr">
              <a:buNone/>
            </a:pPr>
            <a:r>
              <a:rPr lang="en-US" sz="1200" dirty="0">
                <a:solidFill>
                  <a:srgbClr val="1F2937"/>
                </a:solidFill>
                <a:latin typeface="Calibri" pitchFamily="34" charset="0"/>
                <a:ea typeface="Calibri" pitchFamily="34" charset="-122"/>
                <a:cs typeface="Calibri" pitchFamily="34" charset="-120"/>
              </a:rPr>
              <a:t>Analyst agent</a:t>
            </a:r>
            <a:endParaRPr lang="en-US" sz="1200" dirty="0"/>
          </a:p>
          <a:p>
            <a:pPr marL="0" indent="0" algn="ctr">
              <a:buNone/>
            </a:pPr>
            <a:r>
              <a:rPr lang="en-US" sz="1200" dirty="0">
                <a:solidFill>
                  <a:srgbClr val="1F2937"/>
                </a:solidFill>
                <a:latin typeface="Calibri" pitchFamily="34" charset="0"/>
                <a:ea typeface="Calibri" pitchFamily="34" charset="-122"/>
                <a:cs typeface="Calibri" pitchFamily="34" charset="-120"/>
              </a:rPr>
              <a:t>risks, trade-offs, actions</a:t>
            </a:r>
            <a:endParaRPr lang="en-US" sz="1200" dirty="0"/>
          </a:p>
        </p:txBody>
      </p:sp>
      <p:sp>
        <p:nvSpPr>
          <p:cNvPr id="15" name="Shape 13"/>
          <p:cNvSpPr/>
          <p:nvPr/>
        </p:nvSpPr>
        <p:spPr>
          <a:xfrm flipV="1">
            <a:off x="4709160" y="2606040"/>
            <a:ext cx="365760" cy="320040"/>
          </a:xfrm>
          <a:prstGeom prst="line">
            <a:avLst/>
          </a:prstGeom>
          <a:noFill/>
          <a:ln w="19050">
            <a:solidFill>
              <a:srgbClr val="12A4A0"/>
            </a:solidFill>
            <a:prstDash val="solid"/>
            <a:tailEnd type="triangle"/>
          </a:ln>
        </p:spPr>
      </p:sp>
      <p:sp>
        <p:nvSpPr>
          <p:cNvPr id="16" name="Shape 14"/>
          <p:cNvSpPr/>
          <p:nvPr/>
        </p:nvSpPr>
        <p:spPr>
          <a:xfrm>
            <a:off x="4709160" y="3246120"/>
            <a:ext cx="365760" cy="320040"/>
          </a:xfrm>
          <a:prstGeom prst="line">
            <a:avLst/>
          </a:prstGeom>
          <a:noFill/>
          <a:ln w="19050">
            <a:solidFill>
              <a:srgbClr val="12A4A0"/>
            </a:solidFill>
            <a:prstDash val="solid"/>
            <a:tailEnd type="triangle"/>
          </a:ln>
        </p:spPr>
      </p:sp>
      <p:sp>
        <p:nvSpPr>
          <p:cNvPr id="17" name="Shape 15"/>
          <p:cNvSpPr/>
          <p:nvPr/>
        </p:nvSpPr>
        <p:spPr>
          <a:xfrm>
            <a:off x="868680" y="4160520"/>
            <a:ext cx="6035040" cy="1965960"/>
          </a:xfrm>
          <a:prstGeom prst="roundRect">
            <a:avLst>
              <a:gd name="adj" fmla="val 3721"/>
            </a:avLst>
          </a:prstGeom>
          <a:solidFill>
            <a:srgbClr val="0E1726"/>
          </a:solidFill>
          <a:ln w="12700">
            <a:solidFill>
              <a:srgbClr val="0E1726"/>
            </a:solidFill>
            <a:prstDash val="solid"/>
          </a:ln>
        </p:spPr>
      </p:sp>
      <p:sp>
        <p:nvSpPr>
          <p:cNvPr id="18" name="Text 16"/>
          <p:cNvSpPr txBox="1"/>
          <p:nvPr/>
        </p:nvSpPr>
        <p:spPr>
          <a:xfrm>
            <a:off x="1097280" y="4270248"/>
            <a:ext cx="5577840" cy="256032"/>
          </a:xfrm>
          <a:prstGeom prst="rect">
            <a:avLst/>
          </a:prstGeom>
          <a:noFill/>
          <a:ln/>
        </p:spPr>
        <p:txBody>
          <a:bodyPr wrap="square" lIns="0" tIns="0" rIns="0" bIns="0" rtlCol="0" anchor="ctr"/>
          <a:lstStyle/>
          <a:p>
            <a:pPr marL="0" indent="0">
              <a:buNone/>
            </a:pPr>
            <a:r>
              <a:rPr lang="en-US" sz="1000" dirty="0">
                <a:solidFill>
                  <a:srgbClr val="7C8BA1"/>
                </a:solidFill>
                <a:latin typeface="Consolas" pitchFamily="34" charset="0"/>
                <a:ea typeface="Consolas" pitchFamily="34" charset="-122"/>
                <a:cs typeface="Consolas" pitchFamily="34" charset="-120"/>
              </a:rPr>
              <a:t>agent_execution.py</a:t>
            </a:r>
            <a:endParaRPr lang="en-US" sz="1000" dirty="0"/>
          </a:p>
        </p:txBody>
      </p:sp>
      <p:sp>
        <p:nvSpPr>
          <p:cNvPr id="19" name="Text 17"/>
          <p:cNvSpPr txBox="1"/>
          <p:nvPr/>
        </p:nvSpPr>
        <p:spPr>
          <a:xfrm>
            <a:off x="1097280" y="4572000"/>
            <a:ext cx="5577840" cy="1463040"/>
          </a:xfrm>
          <a:prstGeom prst="rect">
            <a:avLst/>
          </a:prstGeom>
          <a:noFill/>
          <a:ln/>
        </p:spPr>
        <p:txBody>
          <a:bodyPr wrap="square" lIns="0" tIns="0" rIns="0" bIns="0" rtlCol="0" anchor="t"/>
          <a:lstStyle/>
          <a:p>
            <a:pPr marL="0" indent="0">
              <a:lnSpc>
                <a:spcPct val="110000"/>
              </a:lnSpc>
              <a:buNone/>
            </a:pPr>
            <a:r>
              <a:rPr lang="en-US" sz="1100" dirty="0">
                <a:solidFill>
                  <a:srgbClr val="E2E8F0"/>
                </a:solidFill>
                <a:latin typeface="Consolas" pitchFamily="34" charset="0"/>
                <a:ea typeface="Consolas" pitchFamily="34" charset="-122"/>
                <a:cs typeface="Consolas" pitchFamily="34" charset="-120"/>
              </a:rPr>
              <a:t>workflow = </a:t>
            </a:r>
            <a:r>
              <a:rPr lang="en-US" sz="1100" dirty="0">
                <a:solidFill>
                  <a:srgbClr val="5EEAD4"/>
                </a:solidFill>
                <a:latin typeface="Consolas" pitchFamily="34" charset="0"/>
                <a:ea typeface="Consolas" pitchFamily="34" charset="-122"/>
                <a:cs typeface="Consolas" pitchFamily="34" charset="-120"/>
              </a:rPr>
              <a:t>MagenticBuilder</a:t>
            </a:r>
            <a:r>
              <a:rPr lang="en-US" sz="1100" dirty="0">
                <a:solidFill>
                  <a:srgbClr val="E2E8F0"/>
                </a:solidFill>
                <a:latin typeface="Consolas" pitchFamily="34" charset="0"/>
                <a:ea typeface="Consolas" pitchFamily="34" charset="-122"/>
                <a:cs typeface="Consolas" pitchFamily="34" charset="-120"/>
              </a:rPr>
              <a:t>(</a:t>
            </a:r>
            <a:endParaRPr lang="en-US" sz="1100" dirty="0"/>
          </a:p>
          <a:p>
            <a:pPr marL="0" indent="0">
              <a:lnSpc>
                <a:spcPct val="110000"/>
              </a:lnSpc>
              <a:buNone/>
            </a:pPr>
            <a:r>
              <a:rPr lang="en-US" sz="1100" dirty="0">
                <a:solidFill>
                  <a:srgbClr val="E2E8F0"/>
                </a:solidFill>
                <a:latin typeface="Consolas" pitchFamily="34" charset="0"/>
                <a:ea typeface="Consolas" pitchFamily="34" charset="-122"/>
                <a:cs typeface="Consolas" pitchFamily="34" charset="-120"/>
              </a:rPr>
              <a:t>    manager_agent=manager_agent,</a:t>
            </a:r>
            <a:endParaRPr lang="en-US" sz="1100" dirty="0"/>
          </a:p>
          <a:p>
            <a:pPr marL="0" indent="0">
              <a:lnSpc>
                <a:spcPct val="110000"/>
              </a:lnSpc>
              <a:buNone/>
            </a:pPr>
            <a:r>
              <a:rPr lang="en-US" sz="1100" dirty="0">
                <a:solidFill>
                  <a:srgbClr val="E2E8F0"/>
                </a:solidFill>
                <a:latin typeface="Consolas" pitchFamily="34" charset="0"/>
                <a:ea typeface="Consolas" pitchFamily="34" charset="-122"/>
                <a:cs typeface="Consolas" pitchFamily="34" charset="-120"/>
              </a:rPr>
              <a:t>    participants=[extractor_agent, analyst_agent],</a:t>
            </a:r>
            <a:endParaRPr lang="en-US" sz="1100" dirty="0"/>
          </a:p>
          <a:p>
            <a:pPr marL="0" indent="0">
              <a:lnSpc>
                <a:spcPct val="110000"/>
              </a:lnSpc>
              <a:buNone/>
            </a:pPr>
            <a:r>
              <a:rPr lang="en-US" sz="1100" dirty="0">
                <a:solidFill>
                  <a:srgbClr val="E2E8F0"/>
                </a:solidFill>
                <a:latin typeface="Consolas" pitchFamily="34" charset="0"/>
                <a:ea typeface="Consolas" pitchFamily="34" charset="-122"/>
                <a:cs typeface="Consolas" pitchFamily="34" charset="-120"/>
              </a:rPr>
              <a:t>    max_round_count=</a:t>
            </a:r>
            <a:r>
              <a:rPr lang="en-US" sz="1100" dirty="0">
                <a:solidFill>
                  <a:srgbClr val="FDA4AF"/>
                </a:solidFill>
                <a:latin typeface="Consolas" pitchFamily="34" charset="0"/>
                <a:ea typeface="Consolas" pitchFamily="34" charset="-122"/>
                <a:cs typeface="Consolas" pitchFamily="34" charset="-120"/>
              </a:rPr>
              <a:t>5</a:t>
            </a:r>
            <a:r>
              <a:rPr lang="en-US" sz="1100" dirty="0">
                <a:solidFill>
                  <a:srgbClr val="E2E8F0"/>
                </a:solidFill>
                <a:latin typeface="Consolas" pitchFamily="34" charset="0"/>
                <a:ea typeface="Consolas" pitchFamily="34" charset="-122"/>
                <a:cs typeface="Consolas" pitchFamily="34" charset="-120"/>
              </a:rPr>
              <a:t>,  </a:t>
            </a:r>
            <a:r>
              <a:rPr lang="en-US" sz="1100" dirty="0">
                <a:solidFill>
                  <a:srgbClr val="7C8BA1"/>
                </a:solidFill>
                <a:latin typeface="Consolas" pitchFamily="34" charset="0"/>
                <a:ea typeface="Consolas" pitchFamily="34" charset="-122"/>
                <a:cs typeface="Consolas" pitchFamily="34" charset="-120"/>
              </a:rPr>
              <a:t># hard cap on rounds</a:t>
            </a:r>
            <a:endParaRPr lang="en-US" sz="1100" dirty="0"/>
          </a:p>
          <a:p>
            <a:pPr marL="0" indent="0">
              <a:lnSpc>
                <a:spcPct val="110000"/>
              </a:lnSpc>
              <a:buNone/>
            </a:pPr>
            <a:r>
              <a:rPr lang="en-US" sz="1100" dirty="0">
                <a:solidFill>
                  <a:srgbClr val="E2E8F0"/>
                </a:solidFill>
                <a:latin typeface="Consolas" pitchFamily="34" charset="0"/>
                <a:ea typeface="Consolas" pitchFamily="34" charset="-122"/>
                <a:cs typeface="Consolas" pitchFamily="34" charset="-120"/>
              </a:rPr>
              <a:t>    max_stall_count=</a:t>
            </a:r>
            <a:r>
              <a:rPr lang="en-US" sz="1100" dirty="0">
                <a:solidFill>
                  <a:srgbClr val="FDA4AF"/>
                </a:solidFill>
                <a:latin typeface="Consolas" pitchFamily="34" charset="0"/>
                <a:ea typeface="Consolas" pitchFamily="34" charset="-122"/>
                <a:cs typeface="Consolas" pitchFamily="34" charset="-120"/>
              </a:rPr>
              <a:t>3</a:t>
            </a:r>
            <a:r>
              <a:rPr lang="en-US" sz="1100" dirty="0">
                <a:solidFill>
                  <a:srgbClr val="E2E8F0"/>
                </a:solidFill>
                <a:latin typeface="Consolas" pitchFamily="34" charset="0"/>
                <a:ea typeface="Consolas" pitchFamily="34" charset="-122"/>
                <a:cs typeface="Consolas" pitchFamily="34" charset="-120"/>
              </a:rPr>
              <a:t>,  </a:t>
            </a:r>
            <a:r>
              <a:rPr lang="en-US" sz="1100" dirty="0">
                <a:solidFill>
                  <a:srgbClr val="7C8BA1"/>
                </a:solidFill>
                <a:latin typeface="Consolas" pitchFamily="34" charset="0"/>
                <a:ea typeface="Consolas" pitchFamily="34" charset="-122"/>
                <a:cs typeface="Consolas" pitchFamily="34" charset="-120"/>
              </a:rPr>
              <a:t># stop if no progress</a:t>
            </a:r>
            <a:endParaRPr lang="en-US" sz="1100" dirty="0"/>
          </a:p>
          <a:p>
            <a:pPr marL="0" indent="0">
              <a:lnSpc>
                <a:spcPct val="110000"/>
              </a:lnSpc>
              <a:buNone/>
            </a:pPr>
            <a:r>
              <a:rPr lang="en-US" sz="1100" dirty="0">
                <a:solidFill>
                  <a:srgbClr val="E2E8F0"/>
                </a:solidFill>
                <a:latin typeface="Consolas" pitchFamily="34" charset="0"/>
                <a:ea typeface="Consolas" pitchFamily="34" charset="-122"/>
                <a:cs typeface="Consolas" pitchFamily="34" charset="-120"/>
              </a:rPr>
              <a:t>).</a:t>
            </a:r>
            <a:r>
              <a:rPr lang="en-US" sz="1100" dirty="0">
                <a:solidFill>
                  <a:srgbClr val="5EEAD4"/>
                </a:solidFill>
                <a:latin typeface="Consolas" pitchFamily="34" charset="0"/>
                <a:ea typeface="Consolas" pitchFamily="34" charset="-122"/>
                <a:cs typeface="Consolas" pitchFamily="34" charset="-120"/>
              </a:rPr>
              <a:t>build</a:t>
            </a:r>
            <a:r>
              <a:rPr lang="en-US" sz="1100" dirty="0">
                <a:solidFill>
                  <a:srgbClr val="E2E8F0"/>
                </a:solidFill>
                <a:latin typeface="Consolas" pitchFamily="34" charset="0"/>
                <a:ea typeface="Consolas" pitchFamily="34" charset="-122"/>
                <a:cs typeface="Consolas" pitchFamily="34" charset="-120"/>
              </a:rPr>
              <a:t>()</a:t>
            </a:r>
            <a:endParaRPr lang="en-US" sz="1100" dirty="0"/>
          </a:p>
          <a:p>
            <a:pPr marL="0" indent="0">
              <a:lnSpc>
                <a:spcPct val="110000"/>
              </a:lnSpc>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marL="0" indent="0">
              <a:lnSpc>
                <a:spcPct val="110000"/>
              </a:lnSpc>
              <a:buNone/>
            </a:pPr>
            <a:r>
              <a:rPr lang="en-US" sz="1100" dirty="0">
                <a:solidFill>
                  <a:srgbClr val="E2E8F0"/>
                </a:solidFill>
                <a:latin typeface="Consolas" pitchFamily="34" charset="0"/>
                <a:ea typeface="Consolas" pitchFamily="34" charset="-122"/>
                <a:cs typeface="Consolas" pitchFamily="34" charset="-120"/>
              </a:rPr>
              <a:t>agent = workflow.</a:t>
            </a:r>
            <a:r>
              <a:rPr lang="en-US" sz="1100" dirty="0">
                <a:solidFill>
                  <a:srgbClr val="5EEAD4"/>
                </a:solidFill>
                <a:latin typeface="Consolas" pitchFamily="34" charset="0"/>
                <a:ea typeface="Consolas" pitchFamily="34" charset="-122"/>
                <a:cs typeface="Consolas" pitchFamily="34" charset="-120"/>
              </a:rPr>
              <a:t>as_agent</a:t>
            </a:r>
            <a:r>
              <a:rPr lang="en-US" sz="1100" dirty="0">
                <a:solidFill>
                  <a:srgbClr val="E2E8F0"/>
                </a:solidFill>
                <a:latin typeface="Consolas" pitchFamily="34" charset="0"/>
                <a:ea typeface="Consolas" pitchFamily="34" charset="-122"/>
                <a:cs typeface="Consolas" pitchFamily="34" charset="-120"/>
              </a:rPr>
              <a:t>(name=</a:t>
            </a:r>
            <a:r>
              <a:rPr lang="en-US" sz="1100" dirty="0">
                <a:solidFill>
                  <a:srgbClr val="F9C77A"/>
                </a:solidFill>
                <a:latin typeface="Consolas" pitchFamily="34" charset="0"/>
                <a:ea typeface="Consolas" pitchFamily="34" charset="-122"/>
                <a:cs typeface="Consolas" pitchFamily="34" charset="-120"/>
              </a:rPr>
              <a:t>"Content Pipeline Agent"</a:t>
            </a:r>
            <a:r>
              <a:rPr lang="en-US" sz="1100" dirty="0">
                <a:solidFill>
                  <a:srgbClr val="E2E8F0"/>
                </a:solidFill>
                <a:latin typeface="Consolas" pitchFamily="34" charset="0"/>
                <a:ea typeface="Consolas" pitchFamily="34" charset="-122"/>
                <a:cs typeface="Consolas" pitchFamily="34" charset="-120"/>
              </a:rPr>
              <a:t>)</a:t>
            </a:r>
            <a:endParaRPr lang="en-US" sz="1100" dirty="0"/>
          </a:p>
        </p:txBody>
      </p:sp>
      <p:sp>
        <p:nvSpPr>
          <p:cNvPr id="20" name="Shape 18"/>
          <p:cNvSpPr/>
          <p:nvPr/>
        </p:nvSpPr>
        <p:spPr>
          <a:xfrm>
            <a:off x="7863840" y="2240280"/>
            <a:ext cx="0" cy="1005840"/>
          </a:xfrm>
          <a:prstGeom prst="line">
            <a:avLst/>
          </a:prstGeom>
          <a:noFill/>
          <a:ln w="25400">
            <a:solidFill>
              <a:srgbClr val="D8F3F1"/>
            </a:solidFill>
            <a:prstDash val="solid"/>
          </a:ln>
        </p:spPr>
      </p:sp>
      <p:sp>
        <p:nvSpPr>
          <p:cNvPr id="21" name="Shape 19"/>
          <p:cNvSpPr/>
          <p:nvPr/>
        </p:nvSpPr>
        <p:spPr>
          <a:xfrm>
            <a:off x="7589520" y="1691640"/>
            <a:ext cx="548640" cy="548640"/>
          </a:xfrm>
          <a:prstGeom prst="ellipse">
            <a:avLst/>
          </a:prstGeom>
          <a:solidFill>
            <a:srgbClr val="12A4A0"/>
          </a:solidFill>
          <a:ln w="12700">
            <a:solidFill>
              <a:srgbClr val="12A4A0"/>
            </a:solidFill>
            <a:prstDash val="solid"/>
          </a:ln>
        </p:spPr>
      </p:sp>
      <p:sp>
        <p:nvSpPr>
          <p:cNvPr id="22" name="Text 20"/>
          <p:cNvSpPr txBox="1"/>
          <p:nvPr/>
        </p:nvSpPr>
        <p:spPr>
          <a:xfrm>
            <a:off x="7589520" y="169164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23" name="Text 21"/>
          <p:cNvSpPr txBox="1"/>
          <p:nvPr/>
        </p:nvSpPr>
        <p:spPr>
          <a:xfrm>
            <a:off x="8321040" y="1645920"/>
            <a:ext cx="3383280" cy="365760"/>
          </a:xfrm>
          <a:prstGeom prst="rect">
            <a:avLst/>
          </a:prstGeom>
          <a:noFill/>
          <a:ln/>
        </p:spPr>
        <p:txBody>
          <a:bodyPr wrap="square" lIns="0" tIns="0" rIns="0" bIns="0" rtlCol="0" anchor="ctr"/>
          <a:lstStyle/>
          <a:p>
            <a:pPr marL="0" indent="0">
              <a:buNone/>
            </a:pPr>
            <a:r>
              <a:rPr lang="en-US" sz="1500" b="1" dirty="0">
                <a:solidFill>
                  <a:srgbClr val="0E1726"/>
                </a:solidFill>
                <a:latin typeface="Arial" pitchFamily="34" charset="0"/>
                <a:ea typeface="Arial" pitchFamily="34" charset="-122"/>
                <a:cs typeface="Arial" pitchFamily="34" charset="-120"/>
              </a:rPr>
              <a:t>Provision the platform</a:t>
            </a:r>
            <a:endParaRPr lang="en-US" sz="1500" dirty="0"/>
          </a:p>
        </p:txBody>
      </p:sp>
      <p:sp>
        <p:nvSpPr>
          <p:cNvPr id="24" name="Text 22"/>
          <p:cNvSpPr txBox="1"/>
          <p:nvPr/>
        </p:nvSpPr>
        <p:spPr>
          <a:xfrm>
            <a:off x="8321040" y="2011680"/>
            <a:ext cx="3383280" cy="91440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Infrastructure as code (Bicep) deploys the Foundry resource, project and gpt-5-mini model.</a:t>
            </a:r>
            <a:endParaRPr lang="en-US" sz="1300" dirty="0"/>
          </a:p>
        </p:txBody>
      </p:sp>
      <p:sp>
        <p:nvSpPr>
          <p:cNvPr id="25" name="Shape 23"/>
          <p:cNvSpPr/>
          <p:nvPr/>
        </p:nvSpPr>
        <p:spPr>
          <a:xfrm>
            <a:off x="7863840" y="3794760"/>
            <a:ext cx="0" cy="1005840"/>
          </a:xfrm>
          <a:prstGeom prst="line">
            <a:avLst/>
          </a:prstGeom>
          <a:noFill/>
          <a:ln w="25400">
            <a:solidFill>
              <a:srgbClr val="D8F3F1"/>
            </a:solidFill>
            <a:prstDash val="solid"/>
          </a:ln>
        </p:spPr>
      </p:sp>
      <p:sp>
        <p:nvSpPr>
          <p:cNvPr id="26" name="Shape 24"/>
          <p:cNvSpPr/>
          <p:nvPr/>
        </p:nvSpPr>
        <p:spPr>
          <a:xfrm>
            <a:off x="7589520" y="3246120"/>
            <a:ext cx="548640" cy="548640"/>
          </a:xfrm>
          <a:prstGeom prst="ellipse">
            <a:avLst/>
          </a:prstGeom>
          <a:solidFill>
            <a:srgbClr val="12A4A0"/>
          </a:solidFill>
          <a:ln w="12700">
            <a:solidFill>
              <a:srgbClr val="12A4A0"/>
            </a:solidFill>
            <a:prstDash val="solid"/>
          </a:ln>
        </p:spPr>
      </p:sp>
      <p:sp>
        <p:nvSpPr>
          <p:cNvPr id="27" name="Text 25"/>
          <p:cNvSpPr txBox="1"/>
          <p:nvPr/>
        </p:nvSpPr>
        <p:spPr>
          <a:xfrm>
            <a:off x="7589520" y="324612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28" name="Text 26"/>
          <p:cNvSpPr txBox="1"/>
          <p:nvPr/>
        </p:nvSpPr>
        <p:spPr>
          <a:xfrm>
            <a:off x="8321040" y="3200400"/>
            <a:ext cx="3383280" cy="365760"/>
          </a:xfrm>
          <a:prstGeom prst="rect">
            <a:avLst/>
          </a:prstGeom>
          <a:noFill/>
          <a:ln/>
        </p:spPr>
        <p:txBody>
          <a:bodyPr wrap="square" lIns="0" tIns="0" rIns="0" bIns="0" rtlCol="0" anchor="ctr"/>
          <a:lstStyle/>
          <a:p>
            <a:pPr marL="0" indent="0">
              <a:buNone/>
            </a:pPr>
            <a:r>
              <a:rPr lang="en-US" sz="1500" b="1" dirty="0">
                <a:solidFill>
                  <a:srgbClr val="0E1726"/>
                </a:solidFill>
                <a:latin typeface="Arial" pitchFamily="34" charset="0"/>
                <a:ea typeface="Arial" pitchFamily="34" charset="-122"/>
                <a:cs typeface="Arial" pitchFamily="34" charset="-120"/>
              </a:rPr>
              <a:t>Deploy Foundry agents</a:t>
            </a:r>
            <a:endParaRPr lang="en-US" sz="1500" dirty="0"/>
          </a:p>
        </p:txBody>
      </p:sp>
      <p:sp>
        <p:nvSpPr>
          <p:cNvPr id="29" name="Text 27"/>
          <p:cNvSpPr txBox="1"/>
          <p:nvPr/>
        </p:nvSpPr>
        <p:spPr>
          <a:xfrm>
            <a:off x="8321040" y="3566160"/>
            <a:ext cx="3383280" cy="91440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Manager, Extractor and Analyst agents are deployed server-side, each with one job and versioned instructions.</a:t>
            </a:r>
            <a:endParaRPr lang="en-US" sz="1300" dirty="0"/>
          </a:p>
        </p:txBody>
      </p:sp>
      <p:sp>
        <p:nvSpPr>
          <p:cNvPr id="30" name="Shape 28"/>
          <p:cNvSpPr/>
          <p:nvPr/>
        </p:nvSpPr>
        <p:spPr>
          <a:xfrm>
            <a:off x="7589520" y="4800600"/>
            <a:ext cx="548640" cy="548640"/>
          </a:xfrm>
          <a:prstGeom prst="ellipse">
            <a:avLst/>
          </a:prstGeom>
          <a:solidFill>
            <a:srgbClr val="12A4A0"/>
          </a:solidFill>
          <a:ln w="12700">
            <a:solidFill>
              <a:srgbClr val="12A4A0"/>
            </a:solidFill>
            <a:prstDash val="solid"/>
          </a:ln>
        </p:spPr>
      </p:sp>
      <p:sp>
        <p:nvSpPr>
          <p:cNvPr id="31" name="Text 29"/>
          <p:cNvSpPr txBox="1"/>
          <p:nvPr/>
        </p:nvSpPr>
        <p:spPr>
          <a:xfrm>
            <a:off x="7589520" y="480060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32" name="Text 30"/>
          <p:cNvSpPr txBox="1"/>
          <p:nvPr/>
        </p:nvSpPr>
        <p:spPr>
          <a:xfrm>
            <a:off x="8321040" y="4754880"/>
            <a:ext cx="3383280" cy="365760"/>
          </a:xfrm>
          <a:prstGeom prst="rect">
            <a:avLst/>
          </a:prstGeom>
          <a:noFill/>
          <a:ln/>
        </p:spPr>
        <p:txBody>
          <a:bodyPr wrap="square" lIns="0" tIns="0" rIns="0" bIns="0" rtlCol="0" anchor="ctr"/>
          <a:lstStyle/>
          <a:p>
            <a:pPr marL="0" indent="0">
              <a:buNone/>
            </a:pPr>
            <a:r>
              <a:rPr lang="en-US" sz="1500" b="1" dirty="0">
                <a:solidFill>
                  <a:srgbClr val="0E1726"/>
                </a:solidFill>
                <a:latin typeface="Arial" pitchFamily="34" charset="0"/>
                <a:ea typeface="Arial" pitchFamily="34" charset="-122"/>
                <a:cs typeface="Arial" pitchFamily="34" charset="-120"/>
              </a:rPr>
              <a:t>Connect with Agent Framework</a:t>
            </a:r>
            <a:endParaRPr lang="en-US" sz="1500" dirty="0"/>
          </a:p>
        </p:txBody>
      </p:sp>
      <p:sp>
        <p:nvSpPr>
          <p:cNvPr id="33" name="Text 31"/>
          <p:cNvSpPr txBox="1"/>
          <p:nvPr/>
        </p:nvSpPr>
        <p:spPr>
          <a:xfrm>
            <a:off x="8321040" y="5120640"/>
            <a:ext cx="3383280" cy="91440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Microsoft Agent Framework links them using the Magentic pattern. Round and stall limits keep cost predictable.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972800" cy="320040"/>
          </a:xfrm>
          <a:prstGeom prst="rect">
            <a:avLst/>
          </a:prstGeom>
          <a:noFill/>
          <a:ln/>
        </p:spPr>
        <p:txBody>
          <a:bodyPr wrap="square" lIns="0" tIns="0" rIns="0" bIns="0" rtlCol="0" anchor="ctr"/>
          <a:lstStyle/>
          <a:p>
            <a:pPr marL="0" indent="0">
              <a:buNone/>
            </a:pPr>
            <a:r>
              <a:rPr lang="en-US" sz="1200" b="1" kern="0" spc="300" dirty="0">
                <a:solidFill>
                  <a:srgbClr val="12A4A0"/>
                </a:solidFill>
                <a:latin typeface="Arial" pitchFamily="34" charset="0"/>
                <a:ea typeface="Arial" pitchFamily="34" charset="-122"/>
                <a:cs typeface="Arial" pitchFamily="34" charset="-120"/>
              </a:rPr>
              <a:t>PATTERN 2  ·  CLIENT-SIDE ORCHESTRATION</a:t>
            </a:r>
            <a:endParaRPr lang="en-US" sz="1200" dirty="0"/>
          </a:p>
        </p:txBody>
      </p:sp>
      <p:sp>
        <p:nvSpPr>
          <p:cNvPr id="3" name="Text 1"/>
          <p:cNvSpPr txBox="1"/>
          <p:nvPr/>
        </p:nvSpPr>
        <p:spPr>
          <a:xfrm>
            <a:off x="548640" y="685800"/>
            <a:ext cx="11064240" cy="685800"/>
          </a:xfrm>
          <a:prstGeom prst="rect">
            <a:avLst/>
          </a:prstGeom>
          <a:noFill/>
          <a:ln/>
        </p:spPr>
        <p:txBody>
          <a:bodyPr wrap="square" lIns="0" tIns="0" rIns="0" bIns="0" rtlCol="0" anchor="ctr"/>
          <a:lstStyle/>
          <a:p>
            <a:pPr marL="0" indent="0">
              <a:buNone/>
            </a:pPr>
            <a:r>
              <a:rPr lang="en-US" sz="3200" b="1" dirty="0">
                <a:solidFill>
                  <a:srgbClr val="0E1726"/>
                </a:solidFill>
                <a:latin typeface="Arial" pitchFamily="34" charset="0"/>
                <a:ea typeface="Arial" pitchFamily="34" charset="-122"/>
                <a:cs typeface="Arial" pitchFamily="34" charset="-120"/>
              </a:rPr>
              <a:t>One containerised agent service, two ways to host it</a:t>
            </a:r>
            <a:endParaRPr lang="en-US" sz="3200" dirty="0"/>
          </a:p>
        </p:txBody>
      </p:sp>
      <p:sp>
        <p:nvSpPr>
          <p:cNvPr id="4" name="Shape 2"/>
          <p:cNvSpPr/>
          <p:nvPr/>
        </p:nvSpPr>
        <p:spPr>
          <a:xfrm>
            <a:off x="548640" y="1600200"/>
            <a:ext cx="457200" cy="457200"/>
          </a:xfrm>
          <a:prstGeom prst="ellipse">
            <a:avLst/>
          </a:prstGeom>
          <a:solidFill>
            <a:srgbClr val="12A4A0"/>
          </a:solidFill>
          <a:ln w="12700">
            <a:solidFill>
              <a:srgbClr val="12A4A0"/>
            </a:solidFill>
            <a:prstDash val="solid"/>
          </a:ln>
        </p:spPr>
      </p:sp>
      <p:sp>
        <p:nvSpPr>
          <p:cNvPr id="5" name="Text 3"/>
          <p:cNvSpPr txBox="1"/>
          <p:nvPr/>
        </p:nvSpPr>
        <p:spPr>
          <a:xfrm>
            <a:off x="548640" y="16002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115568" y="1600200"/>
            <a:ext cx="1965960" cy="457200"/>
          </a:xfrm>
          <a:prstGeom prst="rect">
            <a:avLst/>
          </a:prstGeom>
          <a:noFill/>
          <a:ln/>
        </p:spPr>
        <p:txBody>
          <a:bodyPr wrap="square" lIns="0" tIns="0" rIns="0" bIns="0" rtlCol="0" anchor="ctr"/>
          <a:lstStyle/>
          <a:p>
            <a:pPr marL="0" indent="0">
              <a:buNone/>
            </a:pPr>
            <a:r>
              <a:rPr lang="en-US" sz="1500" b="1" dirty="0">
                <a:solidFill>
                  <a:srgbClr val="0E1726"/>
                </a:solidFill>
                <a:latin typeface="Arial" pitchFamily="34" charset="0"/>
                <a:ea typeface="Arial" pitchFamily="34" charset="-122"/>
                <a:cs typeface="Arial" pitchFamily="34" charset="-120"/>
              </a:rPr>
              <a:t>Provision via IaC</a:t>
            </a:r>
            <a:endParaRPr lang="en-US" sz="1500" dirty="0"/>
          </a:p>
        </p:txBody>
      </p:sp>
      <p:sp>
        <p:nvSpPr>
          <p:cNvPr id="7" name="Shape 5"/>
          <p:cNvSpPr/>
          <p:nvPr/>
        </p:nvSpPr>
        <p:spPr>
          <a:xfrm>
            <a:off x="3108960" y="1828800"/>
            <a:ext cx="182880" cy="914"/>
          </a:xfrm>
          <a:prstGeom prst="line">
            <a:avLst/>
          </a:prstGeom>
          <a:noFill/>
          <a:ln w="19050">
            <a:solidFill>
              <a:srgbClr val="12A4A0"/>
            </a:solidFill>
            <a:prstDash val="solid"/>
            <a:tailEnd type="triangle"/>
          </a:ln>
        </p:spPr>
      </p:sp>
      <p:sp>
        <p:nvSpPr>
          <p:cNvPr id="8" name="Text 6"/>
          <p:cNvSpPr txBox="1"/>
          <p:nvPr/>
        </p:nvSpPr>
        <p:spPr>
          <a:xfrm>
            <a:off x="548640" y="2176272"/>
            <a:ext cx="2560320" cy="685800"/>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Bicep deploys the Foundry resource, project and model, plus Key Vault and App Config.</a:t>
            </a:r>
            <a:endParaRPr lang="en-US" sz="1200" dirty="0"/>
          </a:p>
        </p:txBody>
      </p:sp>
      <p:sp>
        <p:nvSpPr>
          <p:cNvPr id="9" name="Shape 7"/>
          <p:cNvSpPr/>
          <p:nvPr/>
        </p:nvSpPr>
        <p:spPr>
          <a:xfrm>
            <a:off x="3355848" y="1600200"/>
            <a:ext cx="457200" cy="457200"/>
          </a:xfrm>
          <a:prstGeom prst="ellipse">
            <a:avLst/>
          </a:prstGeom>
          <a:solidFill>
            <a:srgbClr val="12A4A0"/>
          </a:solidFill>
          <a:ln w="12700">
            <a:solidFill>
              <a:srgbClr val="12A4A0"/>
            </a:solidFill>
            <a:prstDash val="solid"/>
          </a:ln>
        </p:spPr>
      </p:sp>
      <p:sp>
        <p:nvSpPr>
          <p:cNvPr id="10" name="Text 8"/>
          <p:cNvSpPr txBox="1"/>
          <p:nvPr/>
        </p:nvSpPr>
        <p:spPr>
          <a:xfrm>
            <a:off x="3355848" y="16002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1" name="Text 9"/>
          <p:cNvSpPr txBox="1"/>
          <p:nvPr/>
        </p:nvSpPr>
        <p:spPr>
          <a:xfrm>
            <a:off x="3922776" y="1600200"/>
            <a:ext cx="1965960" cy="457200"/>
          </a:xfrm>
          <a:prstGeom prst="rect">
            <a:avLst/>
          </a:prstGeom>
          <a:noFill/>
          <a:ln/>
        </p:spPr>
        <p:txBody>
          <a:bodyPr wrap="square" lIns="0" tIns="0" rIns="0" bIns="0" rtlCol="0" anchor="ctr"/>
          <a:lstStyle/>
          <a:p>
            <a:pPr marL="0" indent="0">
              <a:buNone/>
            </a:pPr>
            <a:r>
              <a:rPr lang="en-US" sz="1500" b="1" dirty="0">
                <a:solidFill>
                  <a:srgbClr val="0E1726"/>
                </a:solidFill>
                <a:latin typeface="Arial" pitchFamily="34" charset="0"/>
                <a:ea typeface="Arial" pitchFamily="34" charset="-122"/>
                <a:cs typeface="Arial" pitchFamily="34" charset="-120"/>
              </a:rPr>
              <a:t>Build the agent API</a:t>
            </a:r>
            <a:endParaRPr lang="en-US" sz="1500" dirty="0"/>
          </a:p>
        </p:txBody>
      </p:sp>
      <p:sp>
        <p:nvSpPr>
          <p:cNvPr id="12" name="Shape 10"/>
          <p:cNvSpPr/>
          <p:nvPr/>
        </p:nvSpPr>
        <p:spPr>
          <a:xfrm>
            <a:off x="5916168" y="1828800"/>
            <a:ext cx="182880" cy="914"/>
          </a:xfrm>
          <a:prstGeom prst="line">
            <a:avLst/>
          </a:prstGeom>
          <a:noFill/>
          <a:ln w="19050">
            <a:solidFill>
              <a:srgbClr val="12A4A0"/>
            </a:solidFill>
            <a:prstDash val="solid"/>
            <a:tailEnd type="triangle"/>
          </a:ln>
        </p:spPr>
      </p:sp>
      <p:sp>
        <p:nvSpPr>
          <p:cNvPr id="13" name="Text 11"/>
          <p:cNvSpPr txBox="1"/>
          <p:nvPr/>
        </p:nvSpPr>
        <p:spPr>
          <a:xfrm>
            <a:off x="3355848" y="2176272"/>
            <a:ext cx="2560320" cy="685800"/>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FastAPI with client-side orchestration. The API key is never handled by a person.</a:t>
            </a:r>
            <a:endParaRPr lang="en-US" sz="1200" dirty="0"/>
          </a:p>
        </p:txBody>
      </p:sp>
      <p:sp>
        <p:nvSpPr>
          <p:cNvPr id="14" name="Shape 12"/>
          <p:cNvSpPr/>
          <p:nvPr/>
        </p:nvSpPr>
        <p:spPr>
          <a:xfrm>
            <a:off x="6163056" y="1600200"/>
            <a:ext cx="457200" cy="457200"/>
          </a:xfrm>
          <a:prstGeom prst="ellipse">
            <a:avLst/>
          </a:prstGeom>
          <a:solidFill>
            <a:srgbClr val="12A4A0"/>
          </a:solidFill>
          <a:ln w="12700">
            <a:solidFill>
              <a:srgbClr val="12A4A0"/>
            </a:solidFill>
            <a:prstDash val="solid"/>
          </a:ln>
        </p:spPr>
      </p:sp>
      <p:sp>
        <p:nvSpPr>
          <p:cNvPr id="15" name="Text 13"/>
          <p:cNvSpPr txBox="1"/>
          <p:nvPr/>
        </p:nvSpPr>
        <p:spPr>
          <a:xfrm>
            <a:off x="6163056" y="16002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6" name="Text 14"/>
          <p:cNvSpPr txBox="1"/>
          <p:nvPr/>
        </p:nvSpPr>
        <p:spPr>
          <a:xfrm>
            <a:off x="6729984" y="1600200"/>
            <a:ext cx="1965960" cy="457200"/>
          </a:xfrm>
          <a:prstGeom prst="rect">
            <a:avLst/>
          </a:prstGeom>
          <a:noFill/>
          <a:ln/>
        </p:spPr>
        <p:txBody>
          <a:bodyPr wrap="square" lIns="0" tIns="0" rIns="0" bIns="0" rtlCol="0" anchor="ctr"/>
          <a:lstStyle/>
          <a:p>
            <a:pPr marL="0" indent="0">
              <a:buNone/>
            </a:pPr>
            <a:r>
              <a:rPr lang="en-US" sz="1500" b="1" dirty="0">
                <a:solidFill>
                  <a:srgbClr val="0E1726"/>
                </a:solidFill>
                <a:latin typeface="Arial" pitchFamily="34" charset="0"/>
                <a:ea typeface="Arial" pitchFamily="34" charset="-122"/>
                <a:cs typeface="Arial" pitchFamily="34" charset="-120"/>
              </a:rPr>
              <a:t>Containerise</a:t>
            </a:r>
            <a:endParaRPr lang="en-US" sz="1500" dirty="0"/>
          </a:p>
        </p:txBody>
      </p:sp>
      <p:sp>
        <p:nvSpPr>
          <p:cNvPr id="17" name="Shape 15"/>
          <p:cNvSpPr/>
          <p:nvPr/>
        </p:nvSpPr>
        <p:spPr>
          <a:xfrm>
            <a:off x="8723376" y="1828800"/>
            <a:ext cx="182880" cy="914"/>
          </a:xfrm>
          <a:prstGeom prst="line">
            <a:avLst/>
          </a:prstGeom>
          <a:noFill/>
          <a:ln w="19050">
            <a:solidFill>
              <a:srgbClr val="12A4A0"/>
            </a:solidFill>
            <a:prstDash val="solid"/>
            <a:tailEnd type="triangle"/>
          </a:ln>
        </p:spPr>
      </p:sp>
      <p:sp>
        <p:nvSpPr>
          <p:cNvPr id="18" name="Text 16"/>
          <p:cNvSpPr txBox="1"/>
          <p:nvPr/>
        </p:nvSpPr>
        <p:spPr>
          <a:xfrm>
            <a:off x="6163056" y="2176272"/>
            <a:ext cx="2560320" cy="685800"/>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One Docker image, built and pushed to Azure Container Registry.</a:t>
            </a:r>
            <a:endParaRPr lang="en-US" sz="1200" dirty="0"/>
          </a:p>
        </p:txBody>
      </p:sp>
      <p:sp>
        <p:nvSpPr>
          <p:cNvPr id="19" name="Shape 17"/>
          <p:cNvSpPr/>
          <p:nvPr/>
        </p:nvSpPr>
        <p:spPr>
          <a:xfrm>
            <a:off x="8970264" y="1600200"/>
            <a:ext cx="457200" cy="457200"/>
          </a:xfrm>
          <a:prstGeom prst="ellipse">
            <a:avLst/>
          </a:prstGeom>
          <a:solidFill>
            <a:srgbClr val="12A4A0"/>
          </a:solidFill>
          <a:ln w="12700">
            <a:solidFill>
              <a:srgbClr val="12A4A0"/>
            </a:solidFill>
            <a:prstDash val="solid"/>
          </a:ln>
        </p:spPr>
      </p:sp>
      <p:sp>
        <p:nvSpPr>
          <p:cNvPr id="20" name="Text 18"/>
          <p:cNvSpPr txBox="1"/>
          <p:nvPr/>
        </p:nvSpPr>
        <p:spPr>
          <a:xfrm>
            <a:off x="8970264" y="16002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1" name="Text 19"/>
          <p:cNvSpPr txBox="1"/>
          <p:nvPr/>
        </p:nvSpPr>
        <p:spPr>
          <a:xfrm>
            <a:off x="9537192" y="1600200"/>
            <a:ext cx="1965960" cy="457200"/>
          </a:xfrm>
          <a:prstGeom prst="rect">
            <a:avLst/>
          </a:prstGeom>
          <a:noFill/>
          <a:ln/>
        </p:spPr>
        <p:txBody>
          <a:bodyPr wrap="square" lIns="0" tIns="0" rIns="0" bIns="0" rtlCol="0" anchor="ctr"/>
          <a:lstStyle/>
          <a:p>
            <a:pPr marL="0" indent="0">
              <a:buNone/>
            </a:pPr>
            <a:r>
              <a:rPr lang="en-US" sz="1500" b="1" dirty="0">
                <a:solidFill>
                  <a:srgbClr val="0E1726"/>
                </a:solidFill>
                <a:latin typeface="Arial" pitchFamily="34" charset="0"/>
                <a:ea typeface="Arial" pitchFamily="34" charset="-122"/>
                <a:cs typeface="Arial" pitchFamily="34" charset="-120"/>
              </a:rPr>
              <a:t>Deploy either way</a:t>
            </a:r>
            <a:endParaRPr lang="en-US" sz="1500" dirty="0"/>
          </a:p>
        </p:txBody>
      </p:sp>
      <p:sp>
        <p:nvSpPr>
          <p:cNvPr id="22" name="Text 20"/>
          <p:cNvSpPr txBox="1"/>
          <p:nvPr/>
        </p:nvSpPr>
        <p:spPr>
          <a:xfrm>
            <a:off x="8970264" y="2176272"/>
            <a:ext cx="2560320" cy="685800"/>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The same image runs on Container Apps or Kubernetes with zero code changes.</a:t>
            </a:r>
            <a:endParaRPr lang="en-US" sz="1200" dirty="0"/>
          </a:p>
        </p:txBody>
      </p:sp>
      <p:sp>
        <p:nvSpPr>
          <p:cNvPr id="23" name="Shape 21"/>
          <p:cNvSpPr/>
          <p:nvPr/>
        </p:nvSpPr>
        <p:spPr>
          <a:xfrm>
            <a:off x="548640" y="3063240"/>
            <a:ext cx="5376672" cy="3337560"/>
          </a:xfrm>
          <a:prstGeom prst="roundRect">
            <a:avLst>
              <a:gd name="adj" fmla="val 2740"/>
            </a:avLst>
          </a:prstGeom>
          <a:solidFill>
            <a:srgbClr val="F3F6F9"/>
          </a:solidFill>
          <a:ln w="12700">
            <a:solidFill>
              <a:srgbClr val="F3F6F9"/>
            </a:solidFill>
            <a:prstDash val="solid"/>
          </a:ln>
        </p:spPr>
      </p:sp>
      <p:sp>
        <p:nvSpPr>
          <p:cNvPr id="24" name="Shape 22"/>
          <p:cNvSpPr/>
          <p:nvPr/>
        </p:nvSpPr>
        <p:spPr>
          <a:xfrm>
            <a:off x="822960" y="3291840"/>
            <a:ext cx="594360" cy="594360"/>
          </a:xfrm>
          <a:prstGeom prst="ellipse">
            <a:avLst/>
          </a:prstGeom>
          <a:solidFill>
            <a:srgbClr val="12A4A0"/>
          </a:solidFill>
          <a:ln w="12700">
            <a:solidFill>
              <a:srgbClr val="12A4A0"/>
            </a:solidFill>
            <a:prstDash val="solid"/>
          </a:ln>
        </p:spPr>
      </p:sp>
      <p:pic>
        <p:nvPicPr>
          <p:cNvPr id="25" name="Image 0" descr="preencoded.png"/>
          <p:cNvPicPr>
            <a:picLocks noChangeAspect="1"/>
          </p:cNvPicPr>
          <p:nvPr/>
        </p:nvPicPr>
        <p:blipFill>
          <a:blip r:embed="rId3"/>
          <a:stretch>
            <a:fillRect/>
          </a:stretch>
        </p:blipFill>
        <p:spPr>
          <a:xfrm>
            <a:off x="971550" y="3440430"/>
            <a:ext cx="297180" cy="297180"/>
          </a:xfrm>
          <a:prstGeom prst="rect">
            <a:avLst/>
          </a:prstGeom>
        </p:spPr>
      </p:pic>
      <p:sp>
        <p:nvSpPr>
          <p:cNvPr id="26" name="Text 23"/>
          <p:cNvSpPr txBox="1"/>
          <p:nvPr/>
        </p:nvSpPr>
        <p:spPr>
          <a:xfrm>
            <a:off x="1554480" y="3273552"/>
            <a:ext cx="4206240" cy="365760"/>
          </a:xfrm>
          <a:prstGeom prst="rect">
            <a:avLst/>
          </a:prstGeom>
          <a:noFill/>
          <a:ln/>
        </p:spPr>
        <p:txBody>
          <a:bodyPr wrap="square" lIns="0" tIns="0" rIns="0" bIns="0" rtlCol="0" anchor="ctr"/>
          <a:lstStyle/>
          <a:p>
            <a:pPr marL="0" indent="0">
              <a:buNone/>
            </a:pPr>
            <a:r>
              <a:rPr lang="en-US" sz="1700" b="1" dirty="0">
                <a:solidFill>
                  <a:srgbClr val="0E1726"/>
                </a:solidFill>
                <a:latin typeface="Arial" pitchFamily="34" charset="0"/>
                <a:ea typeface="Arial" pitchFamily="34" charset="-122"/>
                <a:cs typeface="Arial" pitchFamily="34" charset="-120"/>
              </a:rPr>
              <a:t>Azure Container Apps</a:t>
            </a:r>
            <a:endParaRPr lang="en-US" sz="1700" dirty="0"/>
          </a:p>
        </p:txBody>
      </p:sp>
      <p:sp>
        <p:nvSpPr>
          <p:cNvPr id="27" name="Text 24"/>
          <p:cNvSpPr txBox="1"/>
          <p:nvPr/>
        </p:nvSpPr>
        <p:spPr>
          <a:xfrm>
            <a:off x="1554480" y="3621024"/>
            <a:ext cx="4206240" cy="27432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Serverless containers · managed identity</a:t>
            </a:r>
            <a:endParaRPr lang="en-US" sz="1300" dirty="0"/>
          </a:p>
        </p:txBody>
      </p:sp>
      <p:sp>
        <p:nvSpPr>
          <p:cNvPr id="28" name="Text 25"/>
          <p:cNvSpPr txBox="1"/>
          <p:nvPr/>
        </p:nvSpPr>
        <p:spPr>
          <a:xfrm>
            <a:off x="822960" y="3931920"/>
            <a:ext cx="1554480" cy="502920"/>
          </a:xfrm>
          <a:prstGeom prst="rect">
            <a:avLst/>
          </a:prstGeom>
          <a:noFill/>
          <a:ln/>
        </p:spPr>
        <p:txBody>
          <a:bodyPr wrap="square" lIns="0" tIns="0" rIns="0" bIns="0" rtlCol="0" anchor="ctr"/>
          <a:lstStyle/>
          <a:p>
            <a:pPr marL="0" indent="0">
              <a:buNone/>
            </a:pPr>
            <a:r>
              <a:rPr lang="en-US" sz="2800" b="1" dirty="0">
                <a:solidFill>
                  <a:srgbClr val="F2A33A"/>
                </a:solidFill>
                <a:latin typeface="Arial" pitchFamily="34" charset="0"/>
                <a:ea typeface="Arial" pitchFamily="34" charset="-122"/>
                <a:cs typeface="Arial" pitchFamily="34" charset="-120"/>
              </a:rPr>
              <a:t>1 → 10</a:t>
            </a:r>
            <a:endParaRPr lang="en-US" sz="2800" dirty="0"/>
          </a:p>
        </p:txBody>
      </p:sp>
      <p:sp>
        <p:nvSpPr>
          <p:cNvPr id="29" name="Text 26"/>
          <p:cNvSpPr txBox="1"/>
          <p:nvPr/>
        </p:nvSpPr>
        <p:spPr>
          <a:xfrm>
            <a:off x="2423160" y="3931920"/>
            <a:ext cx="3200400" cy="502920"/>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replicas, auto-scaled at 70% CPU</a:t>
            </a:r>
            <a:endParaRPr lang="en-US" sz="1300" dirty="0"/>
          </a:p>
        </p:txBody>
      </p:sp>
      <p:sp>
        <p:nvSpPr>
          <p:cNvPr id="30" name="Shape 27"/>
          <p:cNvSpPr/>
          <p:nvPr/>
        </p:nvSpPr>
        <p:spPr>
          <a:xfrm>
            <a:off x="822960" y="4480560"/>
            <a:ext cx="4828032" cy="1737360"/>
          </a:xfrm>
          <a:prstGeom prst="roundRect">
            <a:avLst>
              <a:gd name="adj" fmla="val 4211"/>
            </a:avLst>
          </a:prstGeom>
          <a:solidFill>
            <a:srgbClr val="0E1726"/>
          </a:solidFill>
          <a:ln w="12700">
            <a:solidFill>
              <a:srgbClr val="0E1726"/>
            </a:solidFill>
            <a:prstDash val="solid"/>
          </a:ln>
        </p:spPr>
      </p:sp>
      <p:sp>
        <p:nvSpPr>
          <p:cNvPr id="31" name="Text 28"/>
          <p:cNvSpPr txBox="1"/>
          <p:nvPr/>
        </p:nvSpPr>
        <p:spPr>
          <a:xfrm>
            <a:off x="1051560" y="4590288"/>
            <a:ext cx="4370832" cy="256032"/>
          </a:xfrm>
          <a:prstGeom prst="rect">
            <a:avLst/>
          </a:prstGeom>
          <a:noFill/>
          <a:ln/>
        </p:spPr>
        <p:txBody>
          <a:bodyPr wrap="square" lIns="0" tIns="0" rIns="0" bIns="0" rtlCol="0" anchor="ctr"/>
          <a:lstStyle/>
          <a:p>
            <a:pPr marL="0" indent="0">
              <a:buNone/>
            </a:pPr>
            <a:r>
              <a:rPr lang="en-US" sz="1000" dirty="0">
                <a:solidFill>
                  <a:srgbClr val="7C8BA1"/>
                </a:solidFill>
                <a:latin typeface="Consolas" pitchFamily="34" charset="0"/>
                <a:ea typeface="Consolas" pitchFamily="34" charset="-122"/>
                <a:cs typeface="Consolas" pitchFamily="34" charset="-120"/>
              </a:rPr>
              <a:t>05_cloud_deployment.sh  (abridged)</a:t>
            </a:r>
            <a:endParaRPr lang="en-US" sz="1000" dirty="0"/>
          </a:p>
        </p:txBody>
      </p:sp>
      <p:sp>
        <p:nvSpPr>
          <p:cNvPr id="32" name="Text 29"/>
          <p:cNvSpPr txBox="1"/>
          <p:nvPr/>
        </p:nvSpPr>
        <p:spPr>
          <a:xfrm>
            <a:off x="1051560" y="4892040"/>
            <a:ext cx="4370832" cy="1234440"/>
          </a:xfrm>
          <a:prstGeom prst="rect">
            <a:avLst/>
          </a:prstGeom>
          <a:noFill/>
          <a:ln/>
        </p:spPr>
        <p:txBody>
          <a:bodyPr wrap="square" lIns="0" tIns="0" rIns="0" bIns="0" rtlCol="0" anchor="t"/>
          <a:lstStyle/>
          <a:p>
            <a:pPr marL="0" indent="0">
              <a:lnSpc>
                <a:spcPct val="110000"/>
              </a:lnSpc>
              <a:buNone/>
            </a:pPr>
            <a:r>
              <a:rPr lang="en-US" sz="1050" dirty="0">
                <a:solidFill>
                  <a:srgbClr val="5EEAD4"/>
                </a:solidFill>
                <a:latin typeface="Consolas" pitchFamily="34" charset="0"/>
                <a:ea typeface="Consolas" pitchFamily="34" charset="-122"/>
                <a:cs typeface="Consolas" pitchFamily="34" charset="-120"/>
              </a:rPr>
              <a:t>az containerapp create</a:t>
            </a:r>
            <a:r>
              <a:rPr lang="en-US" sz="1050" dirty="0">
                <a:solidFill>
                  <a:srgbClr val="7C8BA1"/>
                </a:solidFill>
                <a:latin typeface="Consolas" pitchFamily="34" charset="0"/>
                <a:ea typeface="Consolas" pitchFamily="34" charset="-122"/>
                <a:cs typeface="Consolas" pitchFamily="34" charset="-120"/>
              </a:rPr>
              <a:t> `</a:t>
            </a:r>
            <a:endParaRPr lang="en-US" sz="1050" dirty="0"/>
          </a:p>
          <a:p>
            <a:pPr marL="0" indent="0">
              <a:lnSpc>
                <a:spcPct val="110000"/>
              </a:lnSpc>
              <a:buNone/>
            </a:pPr>
            <a:r>
              <a:rPr lang="en-US" sz="1050" dirty="0">
                <a:solidFill>
                  <a:srgbClr val="E2E8F0"/>
                </a:solidFill>
                <a:latin typeface="Consolas" pitchFamily="34" charset="0"/>
                <a:ea typeface="Consolas" pitchFamily="34" charset="-122"/>
                <a:cs typeface="Consolas" pitchFamily="34" charset="-120"/>
              </a:rPr>
              <a:t>  --image </a:t>
            </a:r>
            <a:r>
              <a:rPr lang="en-US" sz="1050" dirty="0">
                <a:solidFill>
                  <a:srgbClr val="F9C77A"/>
                </a:solidFill>
                <a:latin typeface="Consolas" pitchFamily="34" charset="0"/>
                <a:ea typeface="Consolas" pitchFamily="34" charset="-122"/>
                <a:cs typeface="Consolas" pitchFamily="34" charset="-120"/>
              </a:rPr>
              <a:t>coursetest516acr.azurecr.io/ai-agent-api:latest</a:t>
            </a:r>
            <a:r>
              <a:rPr lang="en-US" sz="1050" dirty="0">
                <a:solidFill>
                  <a:srgbClr val="7C8BA1"/>
                </a:solidFill>
                <a:latin typeface="Consolas" pitchFamily="34" charset="0"/>
                <a:ea typeface="Consolas" pitchFamily="34" charset="-122"/>
                <a:cs typeface="Consolas" pitchFamily="34" charset="-120"/>
              </a:rPr>
              <a:t> `</a:t>
            </a:r>
            <a:endParaRPr lang="en-US" sz="1050" dirty="0"/>
          </a:p>
          <a:p>
            <a:pPr marL="0" indent="0">
              <a:lnSpc>
                <a:spcPct val="110000"/>
              </a:lnSpc>
              <a:buNone/>
            </a:pPr>
            <a:r>
              <a:rPr lang="en-US" sz="1050" dirty="0">
                <a:solidFill>
                  <a:srgbClr val="E2E8F0"/>
                </a:solidFill>
                <a:latin typeface="Consolas" pitchFamily="34" charset="0"/>
                <a:ea typeface="Consolas" pitchFamily="34" charset="-122"/>
                <a:cs typeface="Consolas" pitchFamily="34" charset="-120"/>
              </a:rPr>
              <a:t>  --min-replicas </a:t>
            </a:r>
            <a:r>
              <a:rPr lang="en-US" sz="1050" dirty="0">
                <a:solidFill>
                  <a:srgbClr val="FDA4AF"/>
                </a:solidFill>
                <a:latin typeface="Consolas" pitchFamily="34" charset="0"/>
                <a:ea typeface="Consolas" pitchFamily="34" charset="-122"/>
                <a:cs typeface="Consolas" pitchFamily="34" charset="-120"/>
              </a:rPr>
              <a:t>1</a:t>
            </a:r>
            <a:r>
              <a:rPr lang="en-US" sz="1050" dirty="0">
                <a:solidFill>
                  <a:srgbClr val="E2E8F0"/>
                </a:solidFill>
                <a:latin typeface="Consolas" pitchFamily="34" charset="0"/>
                <a:ea typeface="Consolas" pitchFamily="34" charset="-122"/>
                <a:cs typeface="Consolas" pitchFamily="34" charset="-120"/>
              </a:rPr>
              <a:t> --max-replicas </a:t>
            </a:r>
            <a:r>
              <a:rPr lang="en-US" sz="1050" dirty="0">
                <a:solidFill>
                  <a:srgbClr val="FDA4AF"/>
                </a:solidFill>
                <a:latin typeface="Consolas" pitchFamily="34" charset="0"/>
                <a:ea typeface="Consolas" pitchFamily="34" charset="-122"/>
                <a:cs typeface="Consolas" pitchFamily="34" charset="-120"/>
              </a:rPr>
              <a:t>10</a:t>
            </a:r>
            <a:r>
              <a:rPr lang="en-US" sz="1050" dirty="0">
                <a:solidFill>
                  <a:srgbClr val="7C8BA1"/>
                </a:solidFill>
                <a:latin typeface="Consolas" pitchFamily="34" charset="0"/>
                <a:ea typeface="Consolas" pitchFamily="34" charset="-122"/>
                <a:cs typeface="Consolas" pitchFamily="34" charset="-120"/>
              </a:rPr>
              <a:t> `</a:t>
            </a:r>
            <a:endParaRPr lang="en-US" sz="1050" dirty="0"/>
          </a:p>
          <a:p>
            <a:pPr marL="0" indent="0">
              <a:lnSpc>
                <a:spcPct val="110000"/>
              </a:lnSpc>
              <a:buNone/>
            </a:pPr>
            <a:r>
              <a:rPr lang="en-US" sz="1050" dirty="0">
                <a:solidFill>
                  <a:srgbClr val="E2E8F0"/>
                </a:solidFill>
                <a:latin typeface="Consolas" pitchFamily="34" charset="0"/>
                <a:ea typeface="Consolas" pitchFamily="34" charset="-122"/>
                <a:cs typeface="Consolas" pitchFamily="34" charset="-120"/>
              </a:rPr>
              <a:t>  --scale-rule-type </a:t>
            </a:r>
            <a:r>
              <a:rPr lang="en-US" sz="1050" dirty="0">
                <a:solidFill>
                  <a:srgbClr val="F9C77A"/>
                </a:solidFill>
                <a:latin typeface="Consolas" pitchFamily="34" charset="0"/>
                <a:ea typeface="Consolas" pitchFamily="34" charset="-122"/>
                <a:cs typeface="Consolas" pitchFamily="34" charset="-120"/>
              </a:rPr>
              <a:t>cpu</a:t>
            </a:r>
            <a:r>
              <a:rPr lang="en-US" sz="1050" dirty="0">
                <a:solidFill>
                  <a:srgbClr val="7C8BA1"/>
                </a:solidFill>
                <a:latin typeface="Consolas" pitchFamily="34" charset="0"/>
                <a:ea typeface="Consolas" pitchFamily="34" charset="-122"/>
                <a:cs typeface="Consolas" pitchFamily="34" charset="-120"/>
              </a:rPr>
              <a:t> `</a:t>
            </a:r>
            <a:endParaRPr lang="en-US" sz="1050" dirty="0"/>
          </a:p>
          <a:p>
            <a:pPr marL="0" indent="0">
              <a:lnSpc>
                <a:spcPct val="110000"/>
              </a:lnSpc>
              <a:buNone/>
            </a:pPr>
            <a:r>
              <a:rPr lang="en-US" sz="1050" dirty="0">
                <a:solidFill>
                  <a:srgbClr val="E2E8F0"/>
                </a:solidFill>
                <a:latin typeface="Consolas" pitchFamily="34" charset="0"/>
                <a:ea typeface="Consolas" pitchFamily="34" charset="-122"/>
                <a:cs typeface="Consolas" pitchFamily="34" charset="-120"/>
              </a:rPr>
              <a:t>  --scale-rule-metadata </a:t>
            </a:r>
            <a:r>
              <a:rPr lang="en-US" sz="1050" dirty="0">
                <a:solidFill>
                  <a:srgbClr val="F9C77A"/>
                </a:solidFill>
                <a:latin typeface="Consolas" pitchFamily="34" charset="0"/>
                <a:ea typeface="Consolas" pitchFamily="34" charset="-122"/>
                <a:cs typeface="Consolas" pitchFamily="34" charset="-120"/>
              </a:rPr>
              <a:t>type=Utilization value=</a:t>
            </a:r>
            <a:r>
              <a:rPr lang="en-US" sz="1050" dirty="0">
                <a:solidFill>
                  <a:srgbClr val="FDA4AF"/>
                </a:solidFill>
                <a:latin typeface="Consolas" pitchFamily="34" charset="0"/>
                <a:ea typeface="Consolas" pitchFamily="34" charset="-122"/>
                <a:cs typeface="Consolas" pitchFamily="34" charset="-120"/>
              </a:rPr>
              <a:t>70</a:t>
            </a:r>
            <a:r>
              <a:rPr lang="en-US" sz="1050" dirty="0">
                <a:solidFill>
                  <a:srgbClr val="7C8BA1"/>
                </a:solidFill>
                <a:latin typeface="Consolas" pitchFamily="34" charset="0"/>
                <a:ea typeface="Consolas" pitchFamily="34" charset="-122"/>
                <a:cs typeface="Consolas" pitchFamily="34" charset="-120"/>
              </a:rPr>
              <a:t> `</a:t>
            </a:r>
            <a:endParaRPr lang="en-US" sz="1050" dirty="0"/>
          </a:p>
          <a:p>
            <a:pPr marL="0" indent="0">
              <a:lnSpc>
                <a:spcPct val="110000"/>
              </a:lnSpc>
              <a:buNone/>
            </a:pPr>
            <a:r>
              <a:rPr lang="en-US" sz="1050" dirty="0">
                <a:solidFill>
                  <a:srgbClr val="E2E8F0"/>
                </a:solidFill>
                <a:latin typeface="Consolas" pitchFamily="34" charset="0"/>
                <a:ea typeface="Consolas" pitchFamily="34" charset="-122"/>
                <a:cs typeface="Consolas" pitchFamily="34" charset="-120"/>
              </a:rPr>
              <a:t>  --system-assigned</a:t>
            </a:r>
            <a:r>
              <a:rPr lang="en-US" sz="1050" dirty="0">
                <a:solidFill>
                  <a:srgbClr val="7C8BA1"/>
                </a:solidFill>
                <a:latin typeface="Consolas" pitchFamily="34" charset="0"/>
                <a:ea typeface="Consolas" pitchFamily="34" charset="-122"/>
                <a:cs typeface="Consolas" pitchFamily="34" charset="-120"/>
              </a:rPr>
              <a:t>   # managed identity, no keys</a:t>
            </a:r>
            <a:endParaRPr lang="en-US" sz="1050" dirty="0"/>
          </a:p>
        </p:txBody>
      </p:sp>
      <p:sp>
        <p:nvSpPr>
          <p:cNvPr id="33" name="Shape 30"/>
          <p:cNvSpPr/>
          <p:nvPr/>
        </p:nvSpPr>
        <p:spPr>
          <a:xfrm>
            <a:off x="6263640" y="3063240"/>
            <a:ext cx="5376672" cy="3337560"/>
          </a:xfrm>
          <a:prstGeom prst="roundRect">
            <a:avLst>
              <a:gd name="adj" fmla="val 2740"/>
            </a:avLst>
          </a:prstGeom>
          <a:solidFill>
            <a:srgbClr val="F3F6F9"/>
          </a:solidFill>
          <a:ln w="12700">
            <a:solidFill>
              <a:srgbClr val="F3F6F9"/>
            </a:solidFill>
            <a:prstDash val="solid"/>
          </a:ln>
        </p:spPr>
      </p:sp>
      <p:sp>
        <p:nvSpPr>
          <p:cNvPr id="34" name="Shape 31"/>
          <p:cNvSpPr/>
          <p:nvPr/>
        </p:nvSpPr>
        <p:spPr>
          <a:xfrm>
            <a:off x="6537960" y="3291840"/>
            <a:ext cx="594360" cy="594360"/>
          </a:xfrm>
          <a:prstGeom prst="ellipse">
            <a:avLst/>
          </a:prstGeom>
          <a:solidFill>
            <a:srgbClr val="12A4A0"/>
          </a:solidFill>
          <a:ln w="12700">
            <a:solidFill>
              <a:srgbClr val="12A4A0"/>
            </a:solidFill>
            <a:prstDash val="solid"/>
          </a:ln>
        </p:spPr>
      </p:sp>
      <p:pic>
        <p:nvPicPr>
          <p:cNvPr id="35" name="Image 1" descr="preencoded.png"/>
          <p:cNvPicPr>
            <a:picLocks noChangeAspect="1"/>
          </p:cNvPicPr>
          <p:nvPr/>
        </p:nvPicPr>
        <p:blipFill>
          <a:blip r:embed="rId4"/>
          <a:stretch>
            <a:fillRect/>
          </a:stretch>
        </p:blipFill>
        <p:spPr>
          <a:xfrm>
            <a:off x="6686550" y="3440430"/>
            <a:ext cx="297180" cy="297180"/>
          </a:xfrm>
          <a:prstGeom prst="rect">
            <a:avLst/>
          </a:prstGeom>
        </p:spPr>
      </p:pic>
      <p:sp>
        <p:nvSpPr>
          <p:cNvPr id="36" name="Text 32"/>
          <p:cNvSpPr txBox="1"/>
          <p:nvPr/>
        </p:nvSpPr>
        <p:spPr>
          <a:xfrm>
            <a:off x="7269480" y="3273552"/>
            <a:ext cx="4206240" cy="365760"/>
          </a:xfrm>
          <a:prstGeom prst="rect">
            <a:avLst/>
          </a:prstGeom>
          <a:noFill/>
          <a:ln/>
        </p:spPr>
        <p:txBody>
          <a:bodyPr wrap="square" lIns="0" tIns="0" rIns="0" bIns="0" rtlCol="0" anchor="ctr"/>
          <a:lstStyle/>
          <a:p>
            <a:pPr marL="0" indent="0">
              <a:buNone/>
            </a:pPr>
            <a:r>
              <a:rPr lang="en-US" sz="1700" b="1" dirty="0">
                <a:solidFill>
                  <a:srgbClr val="0E1726"/>
                </a:solidFill>
                <a:latin typeface="Arial" pitchFamily="34" charset="0"/>
                <a:ea typeface="Arial" pitchFamily="34" charset="-122"/>
                <a:cs typeface="Arial" pitchFamily="34" charset="-120"/>
              </a:rPr>
              <a:t>Azure Kubernetes Service</a:t>
            </a:r>
            <a:endParaRPr lang="en-US" sz="1700" dirty="0"/>
          </a:p>
        </p:txBody>
      </p:sp>
      <p:sp>
        <p:nvSpPr>
          <p:cNvPr id="37" name="Text 33"/>
          <p:cNvSpPr txBox="1"/>
          <p:nvPr/>
        </p:nvSpPr>
        <p:spPr>
          <a:xfrm>
            <a:off x="7269480" y="3621024"/>
            <a:ext cx="4206240" cy="27432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Full platform control · Workload Identity</a:t>
            </a:r>
            <a:endParaRPr lang="en-US" sz="1300" dirty="0"/>
          </a:p>
        </p:txBody>
      </p:sp>
      <p:sp>
        <p:nvSpPr>
          <p:cNvPr id="38" name="Text 34"/>
          <p:cNvSpPr txBox="1"/>
          <p:nvPr/>
        </p:nvSpPr>
        <p:spPr>
          <a:xfrm>
            <a:off x="6537960" y="3931920"/>
            <a:ext cx="1554480" cy="502920"/>
          </a:xfrm>
          <a:prstGeom prst="rect">
            <a:avLst/>
          </a:prstGeom>
          <a:noFill/>
          <a:ln/>
        </p:spPr>
        <p:txBody>
          <a:bodyPr wrap="square" lIns="0" tIns="0" rIns="0" bIns="0" rtlCol="0" anchor="ctr"/>
          <a:lstStyle/>
          <a:p>
            <a:pPr marL="0" indent="0">
              <a:buNone/>
            </a:pPr>
            <a:r>
              <a:rPr lang="en-US" sz="2800" b="1" dirty="0">
                <a:solidFill>
                  <a:srgbClr val="F2A33A"/>
                </a:solidFill>
                <a:latin typeface="Arial" pitchFamily="34" charset="0"/>
                <a:ea typeface="Arial" pitchFamily="34" charset="-122"/>
                <a:cs typeface="Arial" pitchFamily="34" charset="-120"/>
              </a:rPr>
              <a:t>1 → 3</a:t>
            </a:r>
            <a:endParaRPr lang="en-US" sz="2800" dirty="0"/>
          </a:p>
        </p:txBody>
      </p:sp>
      <p:sp>
        <p:nvSpPr>
          <p:cNvPr id="39" name="Text 35"/>
          <p:cNvSpPr txBox="1"/>
          <p:nvPr/>
        </p:nvSpPr>
        <p:spPr>
          <a:xfrm>
            <a:off x="8138160" y="3931920"/>
            <a:ext cx="3200400" cy="502920"/>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auto-scaled nodes (pods scale 1–5)</a:t>
            </a:r>
            <a:endParaRPr lang="en-US" sz="1300" dirty="0"/>
          </a:p>
        </p:txBody>
      </p:sp>
      <p:sp>
        <p:nvSpPr>
          <p:cNvPr id="40" name="Shape 36"/>
          <p:cNvSpPr/>
          <p:nvPr/>
        </p:nvSpPr>
        <p:spPr>
          <a:xfrm>
            <a:off x="6537960" y="4480560"/>
            <a:ext cx="4828032" cy="1737360"/>
          </a:xfrm>
          <a:prstGeom prst="roundRect">
            <a:avLst>
              <a:gd name="adj" fmla="val 4211"/>
            </a:avLst>
          </a:prstGeom>
          <a:solidFill>
            <a:srgbClr val="0E1726"/>
          </a:solidFill>
          <a:ln w="12700">
            <a:solidFill>
              <a:srgbClr val="0E1726"/>
            </a:solidFill>
            <a:prstDash val="solid"/>
          </a:ln>
        </p:spPr>
      </p:sp>
      <p:sp>
        <p:nvSpPr>
          <p:cNvPr id="41" name="Text 37"/>
          <p:cNvSpPr txBox="1"/>
          <p:nvPr/>
        </p:nvSpPr>
        <p:spPr>
          <a:xfrm>
            <a:off x="6766560" y="4590288"/>
            <a:ext cx="4370832" cy="256032"/>
          </a:xfrm>
          <a:prstGeom prst="rect">
            <a:avLst/>
          </a:prstGeom>
          <a:noFill/>
          <a:ln/>
        </p:spPr>
        <p:txBody>
          <a:bodyPr wrap="square" lIns="0" tIns="0" rIns="0" bIns="0" rtlCol="0" anchor="ctr"/>
          <a:lstStyle/>
          <a:p>
            <a:pPr marL="0" indent="0">
              <a:buNone/>
            </a:pPr>
            <a:r>
              <a:rPr lang="en-US" sz="1000" dirty="0">
                <a:solidFill>
                  <a:srgbClr val="7C8BA1"/>
                </a:solidFill>
                <a:latin typeface="Consolas" pitchFamily="34" charset="0"/>
                <a:ea typeface="Consolas" pitchFamily="34" charset="-122"/>
                <a:cs typeface="Consolas" pitchFamily="34" charset="-120"/>
              </a:rPr>
              <a:t>05_cloud_deployment.sh  (abridged)</a:t>
            </a:r>
            <a:endParaRPr lang="en-US" sz="1000" dirty="0"/>
          </a:p>
        </p:txBody>
      </p:sp>
      <p:sp>
        <p:nvSpPr>
          <p:cNvPr id="42" name="Text 38"/>
          <p:cNvSpPr txBox="1"/>
          <p:nvPr/>
        </p:nvSpPr>
        <p:spPr>
          <a:xfrm>
            <a:off x="6766560" y="4892040"/>
            <a:ext cx="4370832" cy="1234440"/>
          </a:xfrm>
          <a:prstGeom prst="rect">
            <a:avLst/>
          </a:prstGeom>
          <a:noFill/>
          <a:ln/>
        </p:spPr>
        <p:txBody>
          <a:bodyPr wrap="square" lIns="0" tIns="0" rIns="0" bIns="0" rtlCol="0" anchor="t"/>
          <a:lstStyle/>
          <a:p>
            <a:pPr marL="0" indent="0">
              <a:lnSpc>
                <a:spcPct val="110000"/>
              </a:lnSpc>
              <a:buNone/>
            </a:pPr>
            <a:r>
              <a:rPr lang="en-US" sz="1050" dirty="0">
                <a:solidFill>
                  <a:srgbClr val="5EEAD4"/>
                </a:solidFill>
                <a:latin typeface="Consolas" pitchFamily="34" charset="0"/>
                <a:ea typeface="Consolas" pitchFamily="34" charset="-122"/>
                <a:cs typeface="Consolas" pitchFamily="34" charset="-120"/>
              </a:rPr>
              <a:t>az aks create</a:t>
            </a:r>
            <a:r>
              <a:rPr lang="en-US" sz="1050" dirty="0">
                <a:solidFill>
                  <a:srgbClr val="7C8BA1"/>
                </a:solidFill>
                <a:latin typeface="Consolas" pitchFamily="34" charset="0"/>
                <a:ea typeface="Consolas" pitchFamily="34" charset="-122"/>
                <a:cs typeface="Consolas" pitchFamily="34" charset="-120"/>
              </a:rPr>
              <a:t> `</a:t>
            </a:r>
            <a:endParaRPr lang="en-US" sz="1050" dirty="0"/>
          </a:p>
          <a:p>
            <a:pPr marL="0" indent="0">
              <a:lnSpc>
                <a:spcPct val="110000"/>
              </a:lnSpc>
              <a:buNone/>
            </a:pPr>
            <a:r>
              <a:rPr lang="en-US" sz="1050" dirty="0">
                <a:solidFill>
                  <a:srgbClr val="E2E8F0"/>
                </a:solidFill>
                <a:latin typeface="Consolas" pitchFamily="34" charset="0"/>
                <a:ea typeface="Consolas" pitchFamily="34" charset="-122"/>
                <a:cs typeface="Consolas" pitchFamily="34" charset="-120"/>
              </a:rPr>
              <a:t>  --node-count </a:t>
            </a:r>
            <a:r>
              <a:rPr lang="en-US" sz="1050" dirty="0">
                <a:solidFill>
                  <a:srgbClr val="FDA4AF"/>
                </a:solidFill>
                <a:latin typeface="Consolas" pitchFamily="34" charset="0"/>
                <a:ea typeface="Consolas" pitchFamily="34" charset="-122"/>
                <a:cs typeface="Consolas" pitchFamily="34" charset="-120"/>
              </a:rPr>
              <a:t>1</a:t>
            </a:r>
            <a:r>
              <a:rPr lang="en-US" sz="1050" dirty="0">
                <a:solidFill>
                  <a:srgbClr val="E2E8F0"/>
                </a:solidFill>
                <a:latin typeface="Consolas" pitchFamily="34" charset="0"/>
                <a:ea typeface="Consolas" pitchFamily="34" charset="-122"/>
                <a:cs typeface="Consolas" pitchFamily="34" charset="-120"/>
              </a:rPr>
              <a:t> --node-vm-size </a:t>
            </a:r>
            <a:r>
              <a:rPr lang="en-US" sz="1050" dirty="0">
                <a:solidFill>
                  <a:srgbClr val="F9C77A"/>
                </a:solidFill>
                <a:latin typeface="Consolas" pitchFamily="34" charset="0"/>
                <a:ea typeface="Consolas" pitchFamily="34" charset="-122"/>
                <a:cs typeface="Consolas" pitchFamily="34" charset="-120"/>
              </a:rPr>
              <a:t>Standard_D2s_v3</a:t>
            </a:r>
            <a:r>
              <a:rPr lang="en-US" sz="1050" dirty="0">
                <a:solidFill>
                  <a:srgbClr val="7C8BA1"/>
                </a:solidFill>
                <a:latin typeface="Consolas" pitchFamily="34" charset="0"/>
                <a:ea typeface="Consolas" pitchFamily="34" charset="-122"/>
                <a:cs typeface="Consolas" pitchFamily="34" charset="-120"/>
              </a:rPr>
              <a:t> `</a:t>
            </a:r>
            <a:endParaRPr lang="en-US" sz="1050" dirty="0"/>
          </a:p>
          <a:p>
            <a:pPr marL="0" indent="0">
              <a:lnSpc>
                <a:spcPct val="110000"/>
              </a:lnSpc>
              <a:buNone/>
            </a:pPr>
            <a:r>
              <a:rPr lang="en-US" sz="1050" dirty="0">
                <a:solidFill>
                  <a:srgbClr val="E2E8F0"/>
                </a:solidFill>
                <a:latin typeface="Consolas" pitchFamily="34" charset="0"/>
                <a:ea typeface="Consolas" pitchFamily="34" charset="-122"/>
                <a:cs typeface="Consolas" pitchFamily="34" charset="-120"/>
              </a:rPr>
              <a:t>  --attach-acr </a:t>
            </a:r>
            <a:r>
              <a:rPr lang="en-US" sz="1050" dirty="0">
                <a:solidFill>
                  <a:srgbClr val="F9C77A"/>
                </a:solidFill>
                <a:latin typeface="Consolas" pitchFamily="34" charset="0"/>
                <a:ea typeface="Consolas" pitchFamily="34" charset="-122"/>
                <a:cs typeface="Consolas" pitchFamily="34" charset="-120"/>
              </a:rPr>
              <a:t>coursetest523acr</a:t>
            </a:r>
            <a:r>
              <a:rPr lang="en-US" sz="1050" dirty="0">
                <a:solidFill>
                  <a:srgbClr val="7C8BA1"/>
                </a:solidFill>
                <a:latin typeface="Consolas" pitchFamily="34" charset="0"/>
                <a:ea typeface="Consolas" pitchFamily="34" charset="-122"/>
                <a:cs typeface="Consolas" pitchFamily="34" charset="-120"/>
              </a:rPr>
              <a:t> `</a:t>
            </a:r>
            <a:endParaRPr lang="en-US" sz="1050" dirty="0"/>
          </a:p>
          <a:p>
            <a:pPr marL="0" indent="0">
              <a:lnSpc>
                <a:spcPct val="110000"/>
              </a:lnSpc>
              <a:buNone/>
            </a:pPr>
            <a:r>
              <a:rPr lang="en-US" sz="1050" dirty="0">
                <a:solidFill>
                  <a:srgbClr val="E2E8F0"/>
                </a:solidFill>
                <a:latin typeface="Consolas" pitchFamily="34" charset="0"/>
                <a:ea typeface="Consolas" pitchFamily="34" charset="-122"/>
                <a:cs typeface="Consolas" pitchFamily="34" charset="-120"/>
              </a:rPr>
              <a:t>  --enable-cluster-autoscaler</a:t>
            </a:r>
            <a:r>
              <a:rPr lang="en-US" sz="1050" dirty="0">
                <a:solidFill>
                  <a:srgbClr val="7C8BA1"/>
                </a:solidFill>
                <a:latin typeface="Consolas" pitchFamily="34" charset="0"/>
                <a:ea typeface="Consolas" pitchFamily="34" charset="-122"/>
                <a:cs typeface="Consolas" pitchFamily="34" charset="-120"/>
              </a:rPr>
              <a:t> `</a:t>
            </a:r>
            <a:endParaRPr lang="en-US" sz="1050" dirty="0"/>
          </a:p>
          <a:p>
            <a:pPr marL="0" indent="0">
              <a:lnSpc>
                <a:spcPct val="110000"/>
              </a:lnSpc>
              <a:buNone/>
            </a:pPr>
            <a:r>
              <a:rPr lang="en-US" sz="1050" dirty="0">
                <a:solidFill>
                  <a:srgbClr val="E2E8F0"/>
                </a:solidFill>
                <a:latin typeface="Consolas" pitchFamily="34" charset="0"/>
                <a:ea typeface="Consolas" pitchFamily="34" charset="-122"/>
                <a:cs typeface="Consolas" pitchFamily="34" charset="-120"/>
              </a:rPr>
              <a:t>  --min-count </a:t>
            </a:r>
            <a:r>
              <a:rPr lang="en-US" sz="1050" dirty="0">
                <a:solidFill>
                  <a:srgbClr val="FDA4AF"/>
                </a:solidFill>
                <a:latin typeface="Consolas" pitchFamily="34" charset="0"/>
                <a:ea typeface="Consolas" pitchFamily="34" charset="-122"/>
                <a:cs typeface="Consolas" pitchFamily="34" charset="-120"/>
              </a:rPr>
              <a:t>1</a:t>
            </a:r>
            <a:r>
              <a:rPr lang="en-US" sz="1050" dirty="0">
                <a:solidFill>
                  <a:srgbClr val="E2E8F0"/>
                </a:solidFill>
                <a:latin typeface="Consolas" pitchFamily="34" charset="0"/>
                <a:ea typeface="Consolas" pitchFamily="34" charset="-122"/>
                <a:cs typeface="Consolas" pitchFamily="34" charset="-120"/>
              </a:rPr>
              <a:t> --max-count </a:t>
            </a:r>
            <a:r>
              <a:rPr lang="en-US" sz="1050" dirty="0">
                <a:solidFill>
                  <a:srgbClr val="FDA4AF"/>
                </a:solidFill>
                <a:latin typeface="Consolas" pitchFamily="34" charset="0"/>
                <a:ea typeface="Consolas" pitchFamily="34" charset="-122"/>
                <a:cs typeface="Consolas" pitchFamily="34" charset="-120"/>
              </a:rPr>
              <a:t>3</a:t>
            </a:r>
            <a:r>
              <a:rPr lang="en-US" sz="1050" dirty="0">
                <a:solidFill>
                  <a:srgbClr val="7C8BA1"/>
                </a:solidFill>
                <a:latin typeface="Consolas" pitchFamily="34" charset="0"/>
                <a:ea typeface="Consolas" pitchFamily="34" charset="-122"/>
                <a:cs typeface="Consolas" pitchFamily="34" charset="-120"/>
              </a:rPr>
              <a:t> `</a:t>
            </a:r>
            <a:endParaRPr lang="en-US" sz="1050" dirty="0"/>
          </a:p>
          <a:p>
            <a:pPr marL="0" indent="0">
              <a:lnSpc>
                <a:spcPct val="110000"/>
              </a:lnSpc>
              <a:buNone/>
            </a:pPr>
            <a:r>
              <a:rPr lang="en-US" sz="1050" dirty="0">
                <a:solidFill>
                  <a:srgbClr val="E2E8F0"/>
                </a:solidFill>
                <a:latin typeface="Consolas" pitchFamily="34" charset="0"/>
                <a:ea typeface="Consolas" pitchFamily="34" charset="-122"/>
                <a:cs typeface="Consolas" pitchFamily="34" charset="-120"/>
              </a:rPr>
              <a:t>  --enable-managed-identity</a:t>
            </a:r>
            <a:r>
              <a:rPr lang="en-US" sz="1050" dirty="0">
                <a:solidFill>
                  <a:srgbClr val="7C8BA1"/>
                </a:solidFill>
                <a:latin typeface="Consolas" pitchFamily="34" charset="0"/>
                <a:ea typeface="Consolas" pitchFamily="34" charset="-122"/>
                <a:cs typeface="Consolas" pitchFamily="34" charset="-120"/>
              </a:rPr>
              <a:t> `</a:t>
            </a:r>
            <a:endParaRPr lang="en-US" sz="1050" dirty="0"/>
          </a:p>
          <a:p>
            <a:pPr marL="0" indent="0">
              <a:lnSpc>
                <a:spcPct val="110000"/>
              </a:lnSpc>
              <a:buNone/>
            </a:pPr>
            <a:r>
              <a:rPr lang="en-US" sz="1050" dirty="0">
                <a:solidFill>
                  <a:srgbClr val="E2E8F0"/>
                </a:solidFill>
                <a:latin typeface="Consolas" pitchFamily="34" charset="0"/>
                <a:ea typeface="Consolas" pitchFamily="34" charset="-122"/>
                <a:cs typeface="Consolas" pitchFamily="34" charset="-120"/>
              </a:rPr>
              <a:t>  --enable-oidc-issuer --enable-workload-identity</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726"/>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972800" cy="320040"/>
          </a:xfrm>
          <a:prstGeom prst="rect">
            <a:avLst/>
          </a:prstGeom>
          <a:noFill/>
          <a:ln/>
        </p:spPr>
        <p:txBody>
          <a:bodyPr wrap="square" lIns="0" tIns="0" rIns="0" bIns="0" rtlCol="0" anchor="ctr"/>
          <a:lstStyle/>
          <a:p>
            <a:pPr marL="0" indent="0">
              <a:buNone/>
            </a:pPr>
            <a:r>
              <a:rPr lang="en-US" sz="1200" b="1" kern="0" spc="300" dirty="0">
                <a:solidFill>
                  <a:srgbClr val="12A4A0"/>
                </a:solidFill>
                <a:latin typeface="Arial" pitchFamily="34" charset="0"/>
                <a:ea typeface="Arial" pitchFamily="34" charset="-122"/>
                <a:cs typeface="Arial" pitchFamily="34" charset="-120"/>
              </a:rPr>
              <a:t>WHAT I BRING TO A CLIENT ENGAGEMENT</a:t>
            </a:r>
            <a:endParaRPr lang="en-US" sz="1200" dirty="0"/>
          </a:p>
        </p:txBody>
      </p:sp>
      <p:sp>
        <p:nvSpPr>
          <p:cNvPr id="3" name="Text 1"/>
          <p:cNvSpPr txBox="1"/>
          <p:nvPr/>
        </p:nvSpPr>
        <p:spPr>
          <a:xfrm>
            <a:off x="548640" y="685800"/>
            <a:ext cx="11064240" cy="68580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Production-ready by design, not as an afterthought</a:t>
            </a:r>
            <a:endParaRPr lang="en-US" sz="3200" dirty="0"/>
          </a:p>
        </p:txBody>
      </p:sp>
      <p:sp>
        <p:nvSpPr>
          <p:cNvPr id="4" name="Shape 2"/>
          <p:cNvSpPr/>
          <p:nvPr/>
        </p:nvSpPr>
        <p:spPr>
          <a:xfrm>
            <a:off x="548640" y="1691640"/>
            <a:ext cx="2606040" cy="2148840"/>
          </a:xfrm>
          <a:prstGeom prst="roundRect">
            <a:avLst>
              <a:gd name="adj" fmla="val 4255"/>
            </a:avLst>
          </a:prstGeom>
          <a:solidFill>
            <a:srgbClr val="1B2940"/>
          </a:solidFill>
          <a:ln w="12700">
            <a:solidFill>
              <a:srgbClr val="1B2940"/>
            </a:solidFill>
            <a:prstDash val="solid"/>
          </a:ln>
        </p:spPr>
      </p:sp>
      <p:sp>
        <p:nvSpPr>
          <p:cNvPr id="5" name="Shape 3"/>
          <p:cNvSpPr/>
          <p:nvPr/>
        </p:nvSpPr>
        <p:spPr>
          <a:xfrm>
            <a:off x="822960" y="1965960"/>
            <a:ext cx="548640" cy="548640"/>
          </a:xfrm>
          <a:prstGeom prst="ellipse">
            <a:avLst/>
          </a:prstGeom>
          <a:solidFill>
            <a:srgbClr val="12A4A0"/>
          </a:solidFill>
          <a:ln w="12700">
            <a:solidFill>
              <a:srgbClr val="12A4A0"/>
            </a:solidFill>
            <a:prstDash val="solid"/>
          </a:ln>
        </p:spPr>
      </p:sp>
      <p:pic>
        <p:nvPicPr>
          <p:cNvPr id="6" name="Image 0" descr="preencoded.png"/>
          <p:cNvPicPr>
            <a:picLocks noChangeAspect="1"/>
          </p:cNvPicPr>
          <p:nvPr/>
        </p:nvPicPr>
        <p:blipFill>
          <a:blip r:embed="rId3"/>
          <a:stretch>
            <a:fillRect/>
          </a:stretch>
        </p:blipFill>
        <p:spPr>
          <a:xfrm>
            <a:off x="960120" y="2103120"/>
            <a:ext cx="274320" cy="274320"/>
          </a:xfrm>
          <a:prstGeom prst="rect">
            <a:avLst/>
          </a:prstGeom>
        </p:spPr>
      </p:pic>
      <p:sp>
        <p:nvSpPr>
          <p:cNvPr id="7" name="Text 4"/>
          <p:cNvSpPr txBox="1"/>
          <p:nvPr/>
        </p:nvSpPr>
        <p:spPr>
          <a:xfrm>
            <a:off x="822960" y="2606040"/>
            <a:ext cx="2057400" cy="36576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Secure</a:t>
            </a:r>
            <a:endParaRPr lang="en-US" sz="1600" dirty="0"/>
          </a:p>
        </p:txBody>
      </p:sp>
      <p:sp>
        <p:nvSpPr>
          <p:cNvPr id="8" name="Text 5"/>
          <p:cNvSpPr txBox="1"/>
          <p:nvPr/>
        </p:nvSpPr>
        <p:spPr>
          <a:xfrm>
            <a:off x="822960" y="2971800"/>
            <a:ext cx="2057400" cy="777240"/>
          </a:xfrm>
          <a:prstGeom prst="rect">
            <a:avLst/>
          </a:prstGeom>
          <a:noFill/>
          <a:ln/>
        </p:spPr>
        <p:txBody>
          <a:bodyPr wrap="square" lIns="0" tIns="0" rIns="0" bIns="0" rtlCol="0" anchor="t"/>
          <a:lstStyle/>
          <a:p>
            <a:pPr marL="0" indent="0">
              <a:buNone/>
            </a:pPr>
            <a:r>
              <a:rPr lang="en-US" sz="1250" dirty="0">
                <a:solidFill>
                  <a:srgbClr val="CBD5E1"/>
                </a:solidFill>
                <a:latin typeface="Calibri" pitchFamily="34" charset="0"/>
                <a:ea typeface="Calibri" pitchFamily="34" charset="-122"/>
                <a:cs typeface="Calibri" pitchFamily="34" charset="-120"/>
              </a:rPr>
              <a:t>Managed &amp; workload identity, least-privilege RBAC, secrets in Key Vault, not code.</a:t>
            </a:r>
            <a:endParaRPr lang="en-US" sz="1250" dirty="0"/>
          </a:p>
        </p:txBody>
      </p:sp>
      <p:sp>
        <p:nvSpPr>
          <p:cNvPr id="9" name="Shape 6"/>
          <p:cNvSpPr/>
          <p:nvPr/>
        </p:nvSpPr>
        <p:spPr>
          <a:xfrm>
            <a:off x="3364992" y="1691640"/>
            <a:ext cx="2606040" cy="2148840"/>
          </a:xfrm>
          <a:prstGeom prst="roundRect">
            <a:avLst>
              <a:gd name="adj" fmla="val 4255"/>
            </a:avLst>
          </a:prstGeom>
          <a:solidFill>
            <a:srgbClr val="1B2940"/>
          </a:solidFill>
          <a:ln w="12700">
            <a:solidFill>
              <a:srgbClr val="1B2940"/>
            </a:solidFill>
            <a:prstDash val="solid"/>
          </a:ln>
        </p:spPr>
      </p:sp>
      <p:sp>
        <p:nvSpPr>
          <p:cNvPr id="10" name="Shape 7"/>
          <p:cNvSpPr/>
          <p:nvPr/>
        </p:nvSpPr>
        <p:spPr>
          <a:xfrm>
            <a:off x="3639312" y="1965960"/>
            <a:ext cx="548640" cy="548640"/>
          </a:xfrm>
          <a:prstGeom prst="ellipse">
            <a:avLst/>
          </a:prstGeom>
          <a:solidFill>
            <a:srgbClr val="12A4A0"/>
          </a:solidFill>
          <a:ln w="12700">
            <a:solidFill>
              <a:srgbClr val="12A4A0"/>
            </a:solidFill>
            <a:prstDash val="solid"/>
          </a:ln>
        </p:spPr>
      </p:sp>
      <p:pic>
        <p:nvPicPr>
          <p:cNvPr id="11" name="Image 1" descr="preencoded.png"/>
          <p:cNvPicPr>
            <a:picLocks noChangeAspect="1"/>
          </p:cNvPicPr>
          <p:nvPr/>
        </p:nvPicPr>
        <p:blipFill>
          <a:blip r:embed="rId4"/>
          <a:stretch>
            <a:fillRect/>
          </a:stretch>
        </p:blipFill>
        <p:spPr>
          <a:xfrm>
            <a:off x="3776472" y="2103120"/>
            <a:ext cx="274320" cy="274320"/>
          </a:xfrm>
          <a:prstGeom prst="rect">
            <a:avLst/>
          </a:prstGeom>
        </p:spPr>
      </p:pic>
      <p:sp>
        <p:nvSpPr>
          <p:cNvPr id="12" name="Text 8"/>
          <p:cNvSpPr txBox="1"/>
          <p:nvPr/>
        </p:nvSpPr>
        <p:spPr>
          <a:xfrm>
            <a:off x="3639312" y="2606040"/>
            <a:ext cx="2057400" cy="36576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Resilient</a:t>
            </a:r>
            <a:endParaRPr lang="en-US" sz="1600" dirty="0"/>
          </a:p>
        </p:txBody>
      </p:sp>
      <p:sp>
        <p:nvSpPr>
          <p:cNvPr id="13" name="Text 9"/>
          <p:cNvSpPr txBox="1"/>
          <p:nvPr/>
        </p:nvSpPr>
        <p:spPr>
          <a:xfrm>
            <a:off x="3639312" y="2971800"/>
            <a:ext cx="2057400" cy="777240"/>
          </a:xfrm>
          <a:prstGeom prst="rect">
            <a:avLst/>
          </a:prstGeom>
          <a:noFill/>
          <a:ln/>
        </p:spPr>
        <p:txBody>
          <a:bodyPr wrap="square" lIns="0" tIns="0" rIns="0" bIns="0" rtlCol="0" anchor="t"/>
          <a:lstStyle/>
          <a:p>
            <a:pPr marL="0" indent="0">
              <a:buNone/>
            </a:pPr>
            <a:r>
              <a:rPr lang="en-US" sz="1250" dirty="0">
                <a:solidFill>
                  <a:srgbClr val="CBD5E1"/>
                </a:solidFill>
                <a:latin typeface="Calibri" pitchFamily="34" charset="0"/>
                <a:ea typeface="Calibri" pitchFamily="34" charset="-122"/>
                <a:cs typeface="Calibri" pitchFamily="34" charset="-120"/>
              </a:rPr>
              <a:t>Health probes let the platform self-heal. Verified by deliberately breaking it.</a:t>
            </a:r>
            <a:endParaRPr lang="en-US" sz="1250" dirty="0"/>
          </a:p>
        </p:txBody>
      </p:sp>
      <p:sp>
        <p:nvSpPr>
          <p:cNvPr id="14" name="Shape 10"/>
          <p:cNvSpPr/>
          <p:nvPr/>
        </p:nvSpPr>
        <p:spPr>
          <a:xfrm>
            <a:off x="6181344" y="1691640"/>
            <a:ext cx="2606040" cy="2148840"/>
          </a:xfrm>
          <a:prstGeom prst="roundRect">
            <a:avLst>
              <a:gd name="adj" fmla="val 4255"/>
            </a:avLst>
          </a:prstGeom>
          <a:solidFill>
            <a:srgbClr val="1B2940"/>
          </a:solidFill>
          <a:ln w="12700">
            <a:solidFill>
              <a:srgbClr val="1B2940"/>
            </a:solidFill>
            <a:prstDash val="solid"/>
          </a:ln>
        </p:spPr>
      </p:sp>
      <p:sp>
        <p:nvSpPr>
          <p:cNvPr id="15" name="Shape 11"/>
          <p:cNvSpPr/>
          <p:nvPr/>
        </p:nvSpPr>
        <p:spPr>
          <a:xfrm>
            <a:off x="6455664" y="1965960"/>
            <a:ext cx="548640" cy="548640"/>
          </a:xfrm>
          <a:prstGeom prst="ellipse">
            <a:avLst/>
          </a:prstGeom>
          <a:solidFill>
            <a:srgbClr val="12A4A0"/>
          </a:solidFill>
          <a:ln w="12700">
            <a:solidFill>
              <a:srgbClr val="12A4A0"/>
            </a:solidFill>
            <a:prstDash val="solid"/>
          </a:ln>
        </p:spPr>
      </p:sp>
      <p:pic>
        <p:nvPicPr>
          <p:cNvPr id="16" name="Image 2" descr="preencoded.png"/>
          <p:cNvPicPr>
            <a:picLocks noChangeAspect="1"/>
          </p:cNvPicPr>
          <p:nvPr/>
        </p:nvPicPr>
        <p:blipFill>
          <a:blip r:embed="rId5"/>
          <a:stretch>
            <a:fillRect/>
          </a:stretch>
        </p:blipFill>
        <p:spPr>
          <a:xfrm>
            <a:off x="6592824" y="2103120"/>
            <a:ext cx="274320" cy="274320"/>
          </a:xfrm>
          <a:prstGeom prst="rect">
            <a:avLst/>
          </a:prstGeom>
        </p:spPr>
      </p:pic>
      <p:sp>
        <p:nvSpPr>
          <p:cNvPr id="17" name="Text 12"/>
          <p:cNvSpPr txBox="1"/>
          <p:nvPr/>
        </p:nvSpPr>
        <p:spPr>
          <a:xfrm>
            <a:off x="6455664" y="2606040"/>
            <a:ext cx="2057400" cy="36576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Scalable</a:t>
            </a:r>
            <a:endParaRPr lang="en-US" sz="1600" dirty="0"/>
          </a:p>
        </p:txBody>
      </p:sp>
      <p:sp>
        <p:nvSpPr>
          <p:cNvPr id="18" name="Text 13"/>
          <p:cNvSpPr txBox="1"/>
          <p:nvPr/>
        </p:nvSpPr>
        <p:spPr>
          <a:xfrm>
            <a:off x="6455664" y="2971800"/>
            <a:ext cx="2057400" cy="777240"/>
          </a:xfrm>
          <a:prstGeom prst="rect">
            <a:avLst/>
          </a:prstGeom>
          <a:noFill/>
          <a:ln/>
        </p:spPr>
        <p:txBody>
          <a:bodyPr wrap="square" lIns="0" tIns="0" rIns="0" bIns="0" rtlCol="0" anchor="t"/>
          <a:lstStyle/>
          <a:p>
            <a:pPr marL="0" indent="0">
              <a:buNone/>
            </a:pPr>
            <a:r>
              <a:rPr lang="en-US" sz="1250" dirty="0">
                <a:solidFill>
                  <a:srgbClr val="CBD5E1"/>
                </a:solidFill>
                <a:latin typeface="Calibri" pitchFamily="34" charset="0"/>
                <a:ea typeface="Calibri" pitchFamily="34" charset="-122"/>
                <a:cs typeface="Calibri" pitchFamily="34" charset="-120"/>
              </a:rPr>
              <a:t>Autoscaling on demand at both container and node level.</a:t>
            </a:r>
            <a:endParaRPr lang="en-US" sz="1250" dirty="0"/>
          </a:p>
        </p:txBody>
      </p:sp>
      <p:sp>
        <p:nvSpPr>
          <p:cNvPr id="19" name="Shape 14"/>
          <p:cNvSpPr/>
          <p:nvPr/>
        </p:nvSpPr>
        <p:spPr>
          <a:xfrm>
            <a:off x="8997696" y="1691640"/>
            <a:ext cx="2606040" cy="2148840"/>
          </a:xfrm>
          <a:prstGeom prst="roundRect">
            <a:avLst>
              <a:gd name="adj" fmla="val 4255"/>
            </a:avLst>
          </a:prstGeom>
          <a:solidFill>
            <a:srgbClr val="1B2940"/>
          </a:solidFill>
          <a:ln w="12700">
            <a:solidFill>
              <a:srgbClr val="1B2940"/>
            </a:solidFill>
            <a:prstDash val="solid"/>
          </a:ln>
        </p:spPr>
      </p:sp>
      <p:sp>
        <p:nvSpPr>
          <p:cNvPr id="20" name="Shape 15"/>
          <p:cNvSpPr/>
          <p:nvPr/>
        </p:nvSpPr>
        <p:spPr>
          <a:xfrm>
            <a:off x="9272016" y="1965960"/>
            <a:ext cx="548640" cy="548640"/>
          </a:xfrm>
          <a:prstGeom prst="ellipse">
            <a:avLst/>
          </a:prstGeom>
          <a:solidFill>
            <a:srgbClr val="12A4A0"/>
          </a:solidFill>
          <a:ln w="12700">
            <a:solidFill>
              <a:srgbClr val="12A4A0"/>
            </a:solidFill>
            <a:prstDash val="solid"/>
          </a:ln>
        </p:spPr>
      </p:sp>
      <p:pic>
        <p:nvPicPr>
          <p:cNvPr id="21" name="Image 3" descr="preencoded.png"/>
          <p:cNvPicPr>
            <a:picLocks noChangeAspect="1"/>
          </p:cNvPicPr>
          <p:nvPr/>
        </p:nvPicPr>
        <p:blipFill>
          <a:blip r:embed="rId6"/>
          <a:stretch>
            <a:fillRect/>
          </a:stretch>
        </p:blipFill>
        <p:spPr>
          <a:xfrm>
            <a:off x="9409176" y="2103120"/>
            <a:ext cx="274320" cy="274320"/>
          </a:xfrm>
          <a:prstGeom prst="rect">
            <a:avLst/>
          </a:prstGeom>
        </p:spPr>
      </p:pic>
      <p:sp>
        <p:nvSpPr>
          <p:cNvPr id="22" name="Text 16"/>
          <p:cNvSpPr txBox="1"/>
          <p:nvPr/>
        </p:nvSpPr>
        <p:spPr>
          <a:xfrm>
            <a:off x="9272016" y="2606040"/>
            <a:ext cx="2057400" cy="36576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Repeatable</a:t>
            </a:r>
            <a:endParaRPr lang="en-US" sz="1600" dirty="0"/>
          </a:p>
        </p:txBody>
      </p:sp>
      <p:sp>
        <p:nvSpPr>
          <p:cNvPr id="23" name="Text 17"/>
          <p:cNvSpPr txBox="1"/>
          <p:nvPr/>
        </p:nvSpPr>
        <p:spPr>
          <a:xfrm>
            <a:off x="9272016" y="2971800"/>
            <a:ext cx="2057400" cy="777240"/>
          </a:xfrm>
          <a:prstGeom prst="rect">
            <a:avLst/>
          </a:prstGeom>
          <a:noFill/>
          <a:ln/>
        </p:spPr>
        <p:txBody>
          <a:bodyPr wrap="square" lIns="0" tIns="0" rIns="0" bIns="0" rtlCol="0" anchor="t"/>
          <a:lstStyle/>
          <a:p>
            <a:pPr marL="0" indent="0">
              <a:buNone/>
            </a:pPr>
            <a:r>
              <a:rPr lang="en-US" sz="1250" dirty="0">
                <a:solidFill>
                  <a:srgbClr val="CBD5E1"/>
                </a:solidFill>
                <a:latin typeface="Calibri" pitchFamily="34" charset="0"/>
                <a:ea typeface="Calibri" pitchFamily="34" charset="-122"/>
                <a:cs typeface="Calibri" pitchFamily="34" charset="-120"/>
              </a:rPr>
              <a:t>Infrastructure as code for every Azure resource, plus scripted deploy, test and teardown.</a:t>
            </a:r>
            <a:endParaRPr lang="en-US" sz="1250" dirty="0"/>
          </a:p>
        </p:txBody>
      </p:sp>
      <p:sp>
        <p:nvSpPr>
          <p:cNvPr id="24" name="Text 18"/>
          <p:cNvSpPr txBox="1"/>
          <p:nvPr/>
        </p:nvSpPr>
        <p:spPr>
          <a:xfrm>
            <a:off x="548640" y="4114800"/>
            <a:ext cx="10972800" cy="365760"/>
          </a:xfrm>
          <a:prstGeom prst="rect">
            <a:avLst/>
          </a:prstGeom>
          <a:noFill/>
          <a:ln/>
        </p:spPr>
        <p:txBody>
          <a:bodyPr wrap="square" lIns="0" tIns="0" rIns="0" bIns="0" rtlCol="0" anchor="ctr"/>
          <a:lstStyle/>
          <a:p>
            <a:pPr marL="0" indent="0">
              <a:buNone/>
            </a:pPr>
            <a:r>
              <a:rPr lang="en-US" sz="1600" b="1" dirty="0">
                <a:solidFill>
                  <a:srgbClr val="F2A33A"/>
                </a:solidFill>
                <a:latin typeface="Arial" pitchFamily="34" charset="0"/>
                <a:ea typeface="Arial" pitchFamily="34" charset="-122"/>
                <a:cs typeface="Arial" pitchFamily="34" charset="-120"/>
              </a:rPr>
              <a:t>Choosing the right pattern</a:t>
            </a:r>
            <a:endParaRPr lang="en-US" sz="1600" dirty="0"/>
          </a:p>
        </p:txBody>
      </p:sp>
      <p:sp>
        <p:nvSpPr>
          <p:cNvPr id="25" name="Shape 19"/>
          <p:cNvSpPr/>
          <p:nvPr/>
        </p:nvSpPr>
        <p:spPr>
          <a:xfrm>
            <a:off x="548640" y="4572000"/>
            <a:ext cx="3611880" cy="1097280"/>
          </a:xfrm>
          <a:prstGeom prst="roundRect">
            <a:avLst>
              <a:gd name="adj" fmla="val 8333"/>
            </a:avLst>
          </a:prstGeom>
          <a:solidFill>
            <a:srgbClr val="FFFFFF"/>
          </a:solidFill>
          <a:ln w="12700">
            <a:solidFill>
              <a:srgbClr val="FFFFFF"/>
            </a:solidFill>
            <a:prstDash val="solid"/>
          </a:ln>
        </p:spPr>
      </p:sp>
      <p:sp>
        <p:nvSpPr>
          <p:cNvPr id="26" name="Text 20"/>
          <p:cNvSpPr txBox="1"/>
          <p:nvPr/>
        </p:nvSpPr>
        <p:spPr>
          <a:xfrm>
            <a:off x="822960" y="4754880"/>
            <a:ext cx="3063240" cy="365760"/>
          </a:xfrm>
          <a:prstGeom prst="rect">
            <a:avLst/>
          </a:prstGeom>
          <a:noFill/>
          <a:ln/>
        </p:spPr>
        <p:txBody>
          <a:bodyPr wrap="square" lIns="0" tIns="0" rIns="0" bIns="0" rtlCol="0" anchor="ctr"/>
          <a:lstStyle/>
          <a:p>
            <a:pPr marL="0" indent="0">
              <a:buNone/>
            </a:pPr>
            <a:r>
              <a:rPr lang="en-US" sz="1500" b="1" dirty="0">
                <a:solidFill>
                  <a:srgbClr val="12A4A0"/>
                </a:solidFill>
                <a:latin typeface="Arial" pitchFamily="34" charset="0"/>
                <a:ea typeface="Arial" pitchFamily="34" charset="-122"/>
                <a:cs typeface="Arial" pitchFamily="34" charset="-120"/>
              </a:rPr>
              <a:t>Foundry agents</a:t>
            </a:r>
            <a:endParaRPr lang="en-US" sz="1500" dirty="0"/>
          </a:p>
        </p:txBody>
      </p:sp>
      <p:sp>
        <p:nvSpPr>
          <p:cNvPr id="27" name="Text 21"/>
          <p:cNvSpPr txBox="1"/>
          <p:nvPr/>
        </p:nvSpPr>
        <p:spPr>
          <a:xfrm>
            <a:off x="822960" y="5120640"/>
            <a:ext cx="3063240" cy="50292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Fastest path to value. Managed multi-agent workflows with platform-native tracing.</a:t>
            </a:r>
            <a:endParaRPr lang="en-US" sz="1300" dirty="0"/>
          </a:p>
        </p:txBody>
      </p:sp>
      <p:sp>
        <p:nvSpPr>
          <p:cNvPr id="28" name="Shape 22"/>
          <p:cNvSpPr/>
          <p:nvPr/>
        </p:nvSpPr>
        <p:spPr>
          <a:xfrm>
            <a:off x="4274820" y="4572000"/>
            <a:ext cx="3611880" cy="1097280"/>
          </a:xfrm>
          <a:prstGeom prst="roundRect">
            <a:avLst>
              <a:gd name="adj" fmla="val 8333"/>
            </a:avLst>
          </a:prstGeom>
          <a:solidFill>
            <a:srgbClr val="FFFFFF"/>
          </a:solidFill>
          <a:ln w="12700">
            <a:solidFill>
              <a:srgbClr val="FFFFFF"/>
            </a:solidFill>
            <a:prstDash val="solid"/>
          </a:ln>
        </p:spPr>
      </p:sp>
      <p:sp>
        <p:nvSpPr>
          <p:cNvPr id="29" name="Text 23"/>
          <p:cNvSpPr txBox="1"/>
          <p:nvPr/>
        </p:nvSpPr>
        <p:spPr>
          <a:xfrm>
            <a:off x="4549140" y="4754880"/>
            <a:ext cx="3063240" cy="365760"/>
          </a:xfrm>
          <a:prstGeom prst="rect">
            <a:avLst/>
          </a:prstGeom>
          <a:noFill/>
          <a:ln/>
        </p:spPr>
        <p:txBody>
          <a:bodyPr wrap="square" lIns="0" tIns="0" rIns="0" bIns="0" rtlCol="0" anchor="ctr"/>
          <a:lstStyle/>
          <a:p>
            <a:pPr marL="0" indent="0">
              <a:buNone/>
            </a:pPr>
            <a:r>
              <a:rPr lang="en-US" sz="1500" b="1" dirty="0">
                <a:solidFill>
                  <a:srgbClr val="12A4A0"/>
                </a:solidFill>
                <a:latin typeface="Arial" pitchFamily="34" charset="0"/>
                <a:ea typeface="Arial" pitchFamily="34" charset="-122"/>
                <a:cs typeface="Arial" pitchFamily="34" charset="-120"/>
              </a:rPr>
              <a:t>Container Apps</a:t>
            </a:r>
            <a:endParaRPr lang="en-US" sz="1500" dirty="0"/>
          </a:p>
        </p:txBody>
      </p:sp>
      <p:sp>
        <p:nvSpPr>
          <p:cNvPr id="30" name="Text 24"/>
          <p:cNvSpPr txBox="1"/>
          <p:nvPr/>
        </p:nvSpPr>
        <p:spPr>
          <a:xfrm>
            <a:off x="4549140" y="5120640"/>
            <a:ext cx="3063240" cy="50292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The default for most custom agent APIs. Serverless scale with low ops overhead.</a:t>
            </a:r>
            <a:endParaRPr lang="en-US" sz="1300" dirty="0"/>
          </a:p>
        </p:txBody>
      </p:sp>
      <p:sp>
        <p:nvSpPr>
          <p:cNvPr id="31" name="Shape 25"/>
          <p:cNvSpPr/>
          <p:nvPr/>
        </p:nvSpPr>
        <p:spPr>
          <a:xfrm>
            <a:off x="8001000" y="4572000"/>
            <a:ext cx="3611880" cy="1097280"/>
          </a:xfrm>
          <a:prstGeom prst="roundRect">
            <a:avLst>
              <a:gd name="adj" fmla="val 8333"/>
            </a:avLst>
          </a:prstGeom>
          <a:solidFill>
            <a:srgbClr val="FFFFFF"/>
          </a:solidFill>
          <a:ln w="12700">
            <a:solidFill>
              <a:srgbClr val="FFFFFF"/>
            </a:solidFill>
            <a:prstDash val="solid"/>
          </a:ln>
        </p:spPr>
      </p:sp>
      <p:sp>
        <p:nvSpPr>
          <p:cNvPr id="32" name="Text 26"/>
          <p:cNvSpPr txBox="1"/>
          <p:nvPr/>
        </p:nvSpPr>
        <p:spPr>
          <a:xfrm>
            <a:off x="8275320" y="4754880"/>
            <a:ext cx="3063240" cy="365760"/>
          </a:xfrm>
          <a:prstGeom prst="rect">
            <a:avLst/>
          </a:prstGeom>
          <a:noFill/>
          <a:ln/>
        </p:spPr>
        <p:txBody>
          <a:bodyPr wrap="square" lIns="0" tIns="0" rIns="0" bIns="0" rtlCol="0" anchor="ctr"/>
          <a:lstStyle/>
          <a:p>
            <a:pPr marL="0" indent="0">
              <a:buNone/>
            </a:pPr>
            <a:r>
              <a:rPr lang="en-US" sz="1500" b="1" dirty="0">
                <a:solidFill>
                  <a:srgbClr val="12A4A0"/>
                </a:solidFill>
                <a:latin typeface="Arial" pitchFamily="34" charset="0"/>
                <a:ea typeface="Arial" pitchFamily="34" charset="-122"/>
                <a:cs typeface="Arial" pitchFamily="34" charset="-120"/>
              </a:rPr>
              <a:t>Kubernetes</a:t>
            </a:r>
            <a:endParaRPr lang="en-US" sz="1500" dirty="0"/>
          </a:p>
        </p:txBody>
      </p:sp>
      <p:sp>
        <p:nvSpPr>
          <p:cNvPr id="33" name="Text 27"/>
          <p:cNvSpPr txBox="1"/>
          <p:nvPr/>
        </p:nvSpPr>
        <p:spPr>
          <a:xfrm>
            <a:off x="8275320" y="5120640"/>
            <a:ext cx="3063240" cy="50292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When the client already runs AKS, or needs fine-grained networking and control.</a:t>
            </a:r>
            <a:endParaRPr lang="en-US" sz="1300" dirty="0"/>
          </a:p>
        </p:txBody>
      </p:sp>
      <p:sp>
        <p:nvSpPr>
          <p:cNvPr id="34" name="Shape 28"/>
          <p:cNvSpPr/>
          <p:nvPr/>
        </p:nvSpPr>
        <p:spPr>
          <a:xfrm>
            <a:off x="548640" y="5943600"/>
            <a:ext cx="411480" cy="411480"/>
          </a:xfrm>
          <a:prstGeom prst="ellipse">
            <a:avLst/>
          </a:prstGeom>
          <a:solidFill>
            <a:srgbClr val="F2A33A"/>
          </a:solidFill>
          <a:ln w="12700">
            <a:solidFill>
              <a:srgbClr val="F2A33A"/>
            </a:solidFill>
            <a:prstDash val="solid"/>
          </a:ln>
        </p:spPr>
      </p:sp>
      <p:pic>
        <p:nvPicPr>
          <p:cNvPr id="35" name="Image 4" descr="preencoded.png"/>
          <p:cNvPicPr>
            <a:picLocks noChangeAspect="1"/>
          </p:cNvPicPr>
          <p:nvPr/>
        </p:nvPicPr>
        <p:blipFill>
          <a:blip r:embed="rId7"/>
          <a:stretch>
            <a:fillRect/>
          </a:stretch>
        </p:blipFill>
        <p:spPr>
          <a:xfrm>
            <a:off x="651510" y="6046470"/>
            <a:ext cx="205740" cy="205740"/>
          </a:xfrm>
          <a:prstGeom prst="rect">
            <a:avLst/>
          </a:prstGeom>
        </p:spPr>
      </p:pic>
      <p:sp>
        <p:nvSpPr>
          <p:cNvPr id="36" name="Text 29"/>
          <p:cNvSpPr txBox="1"/>
          <p:nvPr/>
        </p:nvSpPr>
        <p:spPr>
          <a:xfrm>
            <a:off x="1097280" y="5943600"/>
            <a:ext cx="10515600" cy="411480"/>
          </a:xfrm>
          <a:prstGeom prst="rect">
            <a:avLst/>
          </a:prstGeom>
          <a:noFill/>
          <a:ln/>
        </p:spPr>
        <p:txBody>
          <a:bodyPr wrap="square" lIns="0" tIns="0" rIns="0" bIns="0" rtlCol="0" anchor="ctr"/>
          <a:lstStyle/>
          <a:p>
            <a:pPr marL="0" indent="0">
              <a:buNone/>
            </a:pPr>
            <a:r>
              <a:rPr lang="en-US" sz="1400" b="1" dirty="0">
                <a:solidFill>
                  <a:srgbClr val="F2A33A"/>
                </a:solidFill>
                <a:latin typeface="Calibri" pitchFamily="34" charset="0"/>
                <a:ea typeface="Calibri" pitchFamily="34" charset="-122"/>
                <a:cs typeface="Calibri" pitchFamily="34" charset="-120"/>
              </a:rPr>
              <a:t>Next in the course:  </a:t>
            </a:r>
            <a:r>
              <a:rPr lang="en-US" sz="1400" dirty="0">
                <a:solidFill>
                  <a:srgbClr val="CBD5E1"/>
                </a:solidFill>
                <a:latin typeface="Calibri" pitchFamily="34" charset="0"/>
                <a:ea typeface="Calibri" pitchFamily="34" charset="-122"/>
                <a:cs typeface="Calibri" pitchFamily="34" charset="-120"/>
              </a:rPr>
              <a:t>private networking to lock down the deployed application, and a frontend for the agent API.</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2569</Words>
  <Application>Microsoft Office PowerPoint</Application>
  <PresentationFormat>Widescreen</PresentationFormat>
  <Paragraphs>97</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Consolas</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Agent to Production</dc:title>
  <dc:subject>PptxGenJS Presentation</dc:subject>
  <dc:creator>Luke Ginn</dc:creator>
  <cp:lastModifiedBy>luke ginn</cp:lastModifiedBy>
  <cp:revision>3</cp:revision>
  <dcterms:created xsi:type="dcterms:W3CDTF">2026-09-30T02:26:39Z</dcterms:created>
  <dcterms:modified xsi:type="dcterms:W3CDTF">2026-09-30T02:35:11Z</dcterms:modified>
</cp:coreProperties>
</file>